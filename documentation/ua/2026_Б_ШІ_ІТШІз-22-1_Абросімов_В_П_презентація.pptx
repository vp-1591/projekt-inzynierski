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7" r:id="rId4"/>
    <p:sldId id="260" r:id="rId5"/>
    <p:sldId id="267" r:id="rId6"/>
    <p:sldId id="259" r:id="rId7"/>
    <p:sldId id="261" r:id="rId8"/>
    <p:sldId id="262" r:id="rId9"/>
    <p:sldId id="263" r:id="rId10"/>
  </p:sldIdLst>
  <p:sldSz cx="9144000" cy="5143500" type="screen16x9"/>
  <p:notesSz cx="5143500" cy="9144000"/>
  <p:embeddedFontLst>
    <p:embeddedFont>
      <p:font typeface="Georgia" panose="02040502050405020303" pitchFamily="18" charset="0"/>
      <p:regular r:id="rId12"/>
      <p:bold r:id="rId13"/>
      <p:italic r:id="rId14"/>
      <p:boldItalic r:id="rId15"/>
    </p:embeddedFont>
    <p:embeddedFont>
      <p:font typeface="Platypi Light" pitchFamily="2" charset="0"/>
      <p:regular r:id="rId16"/>
      <p:italic r:id="rId17"/>
    </p:embeddedFont>
    <p:embeddedFont>
      <p:font typeface="Platypi Medium" pitchFamily="2" charset="0"/>
      <p:regular r:id="rId18"/>
      <p:italic r:id="rId19"/>
    </p:embeddedFont>
    <p:embeddedFont>
      <p:font typeface="Source Serif 4" panose="02040603050405020204" pitchFamily="18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4227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362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9904" y="1476747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uk-UA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Презентація роботи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2876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ru-RU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За темою</a:t>
            </a:r>
            <a:r>
              <a:rPr lang="pl-PL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 </a:t>
            </a:r>
            <a:r>
              <a:rPr lang="ru-RU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Система виявлення дезінформації та логічних помилок у медіатекстах</a:t>
            </a:r>
          </a:p>
          <a:p>
            <a:pPr marL="0" indent="0" algn="ctr">
              <a:lnSpc>
                <a:spcPts val="1750"/>
              </a:lnSpc>
              <a:buNone/>
            </a:pPr>
            <a:r>
              <a:rPr lang="ru-RU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з використанням пояснюваного штучного інтелекту (XAI)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624956"/>
            <a:ext cx="8151763" cy="10567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96119" y="2957959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uk-UA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Автор</a:t>
            </a: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</a:t>
            </a:r>
            <a:r>
              <a:rPr lang="uk-UA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Вадим Абросімов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3312319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uk-UA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Керівник</a:t>
            </a: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</a:t>
            </a:r>
            <a:r>
              <a:rPr lang="uk-UA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</a:t>
            </a:r>
            <a:r>
              <a:rPr lang="uk-UA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ас. Малєєв Д.В.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2957959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uk-UA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Тип</a:t>
            </a: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</a:t>
            </a:r>
            <a:r>
              <a:rPr lang="uk-UA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Кваліфікаційна робота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0291"/>
            <a:ext cx="797198" cy="241176"/>
          </a:xfrm>
          <a:prstGeom prst="roundRect">
            <a:avLst>
              <a:gd name="adj" fmla="val 6348"/>
            </a:avLst>
          </a:prstGeom>
          <a:noFill/>
          <a:ln w="4763">
            <a:solidFill>
              <a:srgbClr val="3E2513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3" name="Text 1"/>
          <p:cNvSpPr/>
          <p:nvPr/>
        </p:nvSpPr>
        <p:spPr>
          <a:xfrm>
            <a:off x="577379" y="463302"/>
            <a:ext cx="634678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pl-PL" sz="800" noProof="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МОТИВАЦІЯ</a:t>
            </a:r>
            <a:endParaRPr lang="pl-PL" sz="800" noProof="0" dirty="0"/>
          </a:p>
        </p:txBody>
      </p:sp>
      <p:sp>
        <p:nvSpPr>
          <p:cNvPr id="4" name="Text 2"/>
          <p:cNvSpPr/>
          <p:nvPr/>
        </p:nvSpPr>
        <p:spPr>
          <a:xfrm>
            <a:off x="496119" y="707380"/>
            <a:ext cx="7370713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pl-PL" sz="2500" noProof="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Чому існуючих рішень недостатньо?</a:t>
            </a:r>
            <a:endParaRPr lang="pl-PL" sz="2500" noProof="0" dirty="0"/>
          </a:p>
        </p:txBody>
      </p:sp>
      <p:sp>
        <p:nvSpPr>
          <p:cNvPr id="5" name="Shape 3"/>
          <p:cNvSpPr/>
          <p:nvPr/>
        </p:nvSpPr>
        <p:spPr>
          <a:xfrm>
            <a:off x="496119" y="1407468"/>
            <a:ext cx="4343400" cy="985614"/>
          </a:xfrm>
          <a:prstGeom prst="roundRect">
            <a:avLst>
              <a:gd name="adj" fmla="val 6958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6" name="Shape 4"/>
          <p:cNvSpPr/>
          <p:nvPr/>
        </p:nvSpPr>
        <p:spPr>
          <a:xfrm>
            <a:off x="481831" y="1407468"/>
            <a:ext cx="57150" cy="985614"/>
          </a:xfrm>
          <a:prstGeom prst="roundRect">
            <a:avLst>
              <a:gd name="adj" fmla="val 33488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pl-PL" noProof="0" dirty="0"/>
          </a:p>
        </p:txBody>
      </p:sp>
      <p:sp>
        <p:nvSpPr>
          <p:cNvPr id="7" name="Text 5"/>
          <p:cNvSpPr/>
          <p:nvPr/>
        </p:nvSpPr>
        <p:spPr>
          <a:xfrm>
            <a:off x="680814" y="1549301"/>
            <a:ext cx="2310929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pl-PL" sz="1250" noProof="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BERT та класифікаційні моделі</a:t>
            </a:r>
            <a:endParaRPr lang="pl-PL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680814" y="1863403"/>
            <a:ext cx="4016871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l-PL" sz="1000" noProof="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Повертають виключно числовий результат — відсутність будь-якого пояснення прийнятого рішення.</a:t>
            </a:r>
            <a:endParaRPr lang="pl-PL" sz="1000" noProof="0" dirty="0"/>
          </a:p>
        </p:txBody>
      </p:sp>
      <p:sp>
        <p:nvSpPr>
          <p:cNvPr id="9" name="Shape 7"/>
          <p:cNvSpPr/>
          <p:nvPr/>
        </p:nvSpPr>
        <p:spPr>
          <a:xfrm>
            <a:off x="496119" y="2507903"/>
            <a:ext cx="4343400" cy="985614"/>
          </a:xfrm>
          <a:prstGeom prst="roundRect">
            <a:avLst>
              <a:gd name="adj" fmla="val 6958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10" name="Shape 8"/>
          <p:cNvSpPr/>
          <p:nvPr/>
        </p:nvSpPr>
        <p:spPr>
          <a:xfrm>
            <a:off x="481831" y="2507903"/>
            <a:ext cx="57150" cy="985614"/>
          </a:xfrm>
          <a:prstGeom prst="roundRect">
            <a:avLst>
              <a:gd name="adj" fmla="val 33488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pl-PL" noProof="0" dirty="0"/>
          </a:p>
        </p:txBody>
      </p:sp>
      <p:sp>
        <p:nvSpPr>
          <p:cNvPr id="11" name="Text 9"/>
          <p:cNvSpPr/>
          <p:nvPr/>
        </p:nvSpPr>
        <p:spPr>
          <a:xfrm>
            <a:off x="680814" y="2649736"/>
            <a:ext cx="2068041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pl-PL" sz="1250" noProof="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GPT-4 та хмарні моделі</a:t>
            </a:r>
            <a:endParaRPr lang="pl-PL" sz="1250" noProof="0" dirty="0"/>
          </a:p>
        </p:txBody>
      </p:sp>
      <p:sp>
        <p:nvSpPr>
          <p:cNvPr id="12" name="Text 10"/>
          <p:cNvSpPr/>
          <p:nvPr/>
        </p:nvSpPr>
        <p:spPr>
          <a:xfrm>
            <a:off x="680814" y="2963838"/>
            <a:ext cx="4016871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pl-PL" sz="1000" noProof="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Обмеження модерації контенту, високі витрати на API та ризик порушення конфіденційності даних.</a:t>
            </a:r>
            <a:endParaRPr lang="pl-PL" sz="1000" noProof="0" dirty="0"/>
          </a:p>
        </p:txBody>
      </p:sp>
      <p:sp>
        <p:nvSpPr>
          <p:cNvPr id="13" name="Shape 11"/>
          <p:cNvSpPr/>
          <p:nvPr/>
        </p:nvSpPr>
        <p:spPr>
          <a:xfrm>
            <a:off x="496119" y="3608338"/>
            <a:ext cx="4343400" cy="985614"/>
          </a:xfrm>
          <a:prstGeom prst="roundRect">
            <a:avLst>
              <a:gd name="adj" fmla="val 6958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14" name="Shape 12"/>
          <p:cNvSpPr/>
          <p:nvPr/>
        </p:nvSpPr>
        <p:spPr>
          <a:xfrm>
            <a:off x="481831" y="3608338"/>
            <a:ext cx="57150" cy="985614"/>
          </a:xfrm>
          <a:prstGeom prst="roundRect">
            <a:avLst>
              <a:gd name="adj" fmla="val 33488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pl-PL" noProof="0" dirty="0"/>
          </a:p>
        </p:txBody>
      </p:sp>
      <p:sp>
        <p:nvSpPr>
          <p:cNvPr id="15" name="Text 13"/>
          <p:cNvSpPr/>
          <p:nvPr/>
        </p:nvSpPr>
        <p:spPr>
          <a:xfrm>
            <a:off x="680814" y="3750171"/>
            <a:ext cx="166025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pl-PL" sz="1250" noProof="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Ручна перевірка фактів</a:t>
            </a:r>
            <a:endParaRPr lang="pl-PL" sz="1250" noProof="0" dirty="0"/>
          </a:p>
        </p:txBody>
      </p:sp>
      <p:sp>
        <p:nvSpPr>
          <p:cNvPr id="16" name="Text 14"/>
          <p:cNvSpPr/>
          <p:nvPr/>
        </p:nvSpPr>
        <p:spPr>
          <a:xfrm>
            <a:off x="680814" y="4064273"/>
            <a:ext cx="4016871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l-PL" sz="1000" noProof="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Верифікація однієї статті займає години роботи експерта — метод абсолютно немасштабований.</a:t>
            </a:r>
            <a:endParaRPr lang="pl-PL" sz="1000" noProof="0" dirty="0"/>
          </a:p>
        </p:txBody>
      </p:sp>
      <p:sp>
        <p:nvSpPr>
          <p:cNvPr id="17" name="Shape 15"/>
          <p:cNvSpPr/>
          <p:nvPr/>
        </p:nvSpPr>
        <p:spPr>
          <a:xfrm>
            <a:off x="5063654" y="1278285"/>
            <a:ext cx="3680743" cy="3444850"/>
          </a:xfrm>
          <a:prstGeom prst="roundRect">
            <a:avLst>
              <a:gd name="adj" fmla="val 556"/>
            </a:avLst>
          </a:prstGeom>
          <a:solidFill>
            <a:srgbClr val="1A3A52"/>
          </a:solidFill>
          <a:ln/>
        </p:spPr>
        <p:txBody>
          <a:bodyPr/>
          <a:lstStyle/>
          <a:p>
            <a:endParaRPr lang="pl-PL" noProof="0" dirty="0"/>
          </a:p>
        </p:txBody>
      </p:sp>
      <p:sp>
        <p:nvSpPr>
          <p:cNvPr id="18" name="Text 16"/>
          <p:cNvSpPr/>
          <p:nvPr/>
        </p:nvSpPr>
        <p:spPr>
          <a:xfrm>
            <a:off x="5191199" y="1393106"/>
            <a:ext cx="1615008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pl-PL" sz="1250" noProof="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Технологічний розрив</a:t>
            </a:r>
            <a:endParaRPr lang="pl-PL" sz="1250" noProof="0" dirty="0"/>
          </a:p>
        </p:txBody>
      </p:sp>
      <p:sp>
        <p:nvSpPr>
          <p:cNvPr id="19" name="Text 17"/>
          <p:cNvSpPr/>
          <p:nvPr/>
        </p:nvSpPr>
        <p:spPr>
          <a:xfrm>
            <a:off x="5191199" y="1707207"/>
            <a:ext cx="3425651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pl-PL" sz="1000" noProof="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Жодне з доступних рішень не поєднує одночасно: локального розгортання, пояснюваності та адаптації до нових даних без зовнішніх залежностей.</a:t>
            </a:r>
            <a:endParaRPr lang="pl-PL" sz="10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77937"/>
            <a:ext cx="994990" cy="266402"/>
          </a:xfrm>
          <a:prstGeom prst="roundRect">
            <a:avLst>
              <a:gd name="adj" fmla="val 6386"/>
            </a:avLst>
          </a:prstGeom>
          <a:solidFill>
            <a:srgbClr val="F3E3D8"/>
          </a:solidFill>
          <a:ln/>
        </p:spPr>
        <p:txBody>
          <a:bodyPr/>
          <a:lstStyle/>
          <a:p>
            <a:endParaRPr lang="pl-PL" noProof="0" dirty="0"/>
          </a:p>
        </p:txBody>
      </p:sp>
      <p:sp>
        <p:nvSpPr>
          <p:cNvPr id="3" name="Text 1"/>
          <p:cNvSpPr/>
          <p:nvPr/>
        </p:nvSpPr>
        <p:spPr>
          <a:xfrm>
            <a:off x="581174" y="920428"/>
            <a:ext cx="82488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pl-PL" sz="850" noProof="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МЕТА ПРОЕКТУ</a:t>
            </a:r>
            <a:endParaRPr lang="pl-PL" sz="850" noProof="0" dirty="0"/>
          </a:p>
        </p:txBody>
      </p:sp>
      <p:sp>
        <p:nvSpPr>
          <p:cNvPr id="4" name="Text 2"/>
          <p:cNvSpPr/>
          <p:nvPr/>
        </p:nvSpPr>
        <p:spPr>
          <a:xfrm>
            <a:off x="496119" y="1201043"/>
            <a:ext cx="723225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50"/>
              </a:lnSpc>
            </a:pPr>
            <a:r>
              <a:rPr lang="pl-PL" sz="2750" noProof="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Що реалізує Система детекції маніпуляцій?</a:t>
            </a:r>
            <a:endParaRPr lang="pl-PL" sz="2750" noProof="0" dirty="0"/>
          </a:p>
        </p:txBody>
      </p:sp>
      <p:sp>
        <p:nvSpPr>
          <p:cNvPr id="5" name="Shape 3"/>
          <p:cNvSpPr/>
          <p:nvPr/>
        </p:nvSpPr>
        <p:spPr>
          <a:xfrm>
            <a:off x="496119" y="1856631"/>
            <a:ext cx="2622724" cy="2408932"/>
          </a:xfrm>
          <a:prstGeom prst="roundRect">
            <a:avLst>
              <a:gd name="adj" fmla="val 88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6" name="Shape 4"/>
          <p:cNvSpPr/>
          <p:nvPr/>
        </p:nvSpPr>
        <p:spPr>
          <a:xfrm>
            <a:off x="515169" y="1875681"/>
            <a:ext cx="2584624" cy="425276"/>
          </a:xfrm>
          <a:prstGeom prst="rect">
            <a:avLst/>
          </a:prstGeom>
          <a:solidFill>
            <a:srgbClr val="F9F7F7"/>
          </a:solidFill>
          <a:ln/>
        </p:spPr>
        <p:txBody>
          <a:bodyPr/>
          <a:lstStyle/>
          <a:p>
            <a:endParaRPr lang="pl-PL" noProof="0" dirty="0"/>
          </a:p>
        </p:txBody>
      </p:sp>
      <p:sp>
        <p:nvSpPr>
          <p:cNvPr id="7" name="Text 5"/>
          <p:cNvSpPr/>
          <p:nvPr/>
        </p:nvSpPr>
        <p:spPr>
          <a:xfrm>
            <a:off x="1701180" y="195537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pl-PL" sz="1650" noProof="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pl-PL" sz="1650" noProof="0" dirty="0"/>
          </a:p>
        </p:txBody>
      </p:sp>
      <p:sp>
        <p:nvSpPr>
          <p:cNvPr id="8" name="Text 6"/>
          <p:cNvSpPr/>
          <p:nvPr/>
        </p:nvSpPr>
        <p:spPr>
          <a:xfrm>
            <a:off x="656927" y="2442716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pl-PL" sz="1350" noProof="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Виявлення технік маніпуляції</a:t>
            </a:r>
            <a:endParaRPr lang="pl-PL" sz="1350" noProof="0" dirty="0"/>
          </a:p>
        </p:txBody>
      </p:sp>
      <p:sp>
        <p:nvSpPr>
          <p:cNvPr id="9" name="Text 7"/>
          <p:cNvSpPr/>
          <p:nvPr/>
        </p:nvSpPr>
        <p:spPr>
          <a:xfrm>
            <a:off x="656927" y="2970684"/>
            <a:ext cx="23011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pl-PL" sz="1100" noProof="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Автоматична ідентифікація 11 технік дезінформації в польськомовних текстах — від маніпулювання емоціями до перебільшування фактів</a:t>
            </a:r>
            <a:endParaRPr lang="pl-PL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3260601" y="1856631"/>
            <a:ext cx="2622724" cy="2408932"/>
          </a:xfrm>
          <a:prstGeom prst="roundRect">
            <a:avLst>
              <a:gd name="adj" fmla="val 88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11" name="Shape 9"/>
          <p:cNvSpPr/>
          <p:nvPr/>
        </p:nvSpPr>
        <p:spPr>
          <a:xfrm>
            <a:off x="3279651" y="1875681"/>
            <a:ext cx="2584624" cy="425276"/>
          </a:xfrm>
          <a:prstGeom prst="rect">
            <a:avLst/>
          </a:prstGeom>
          <a:solidFill>
            <a:srgbClr val="F9F7F7"/>
          </a:solidFill>
          <a:ln/>
        </p:spPr>
        <p:txBody>
          <a:bodyPr/>
          <a:lstStyle/>
          <a:p>
            <a:endParaRPr lang="pl-PL" noProof="0" dirty="0"/>
          </a:p>
        </p:txBody>
      </p:sp>
      <p:sp>
        <p:nvSpPr>
          <p:cNvPr id="12" name="Text 10"/>
          <p:cNvSpPr/>
          <p:nvPr/>
        </p:nvSpPr>
        <p:spPr>
          <a:xfrm>
            <a:off x="4465662" y="195537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pl-PL" sz="1650" noProof="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pl-PL" sz="1650" noProof="0" dirty="0"/>
          </a:p>
        </p:txBody>
      </p:sp>
      <p:sp>
        <p:nvSpPr>
          <p:cNvPr id="13" name="Text 11"/>
          <p:cNvSpPr/>
          <p:nvPr/>
        </p:nvSpPr>
        <p:spPr>
          <a:xfrm>
            <a:off x="3421410" y="2442716"/>
            <a:ext cx="22621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pl-PL" sz="1350" noProof="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Пояснювані обґрунтування</a:t>
            </a:r>
            <a:endParaRPr lang="pl-PL" sz="1350" noProof="0" dirty="0"/>
          </a:p>
        </p:txBody>
      </p:sp>
      <p:sp>
        <p:nvSpPr>
          <p:cNvPr id="14" name="Text 12"/>
          <p:cNvSpPr/>
          <p:nvPr/>
        </p:nvSpPr>
        <p:spPr>
          <a:xfrm>
            <a:off x="3421410" y="2749228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pl-PL" sz="1100" noProof="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Система генерує не лише класифікаційну мітку, але й зрозуміле обґрунтування рішення, доступне для аналітика.</a:t>
            </a:r>
            <a:endParaRPr lang="pl-PL" sz="1100" noProof="0" dirty="0"/>
          </a:p>
        </p:txBody>
      </p:sp>
      <p:sp>
        <p:nvSpPr>
          <p:cNvPr id="15" name="Shape 13"/>
          <p:cNvSpPr/>
          <p:nvPr/>
        </p:nvSpPr>
        <p:spPr>
          <a:xfrm>
            <a:off x="6025083" y="1856631"/>
            <a:ext cx="2622724" cy="2408932"/>
          </a:xfrm>
          <a:prstGeom prst="roundRect">
            <a:avLst>
              <a:gd name="adj" fmla="val 88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16" name="Shape 14"/>
          <p:cNvSpPr/>
          <p:nvPr/>
        </p:nvSpPr>
        <p:spPr>
          <a:xfrm>
            <a:off x="6044133" y="1875681"/>
            <a:ext cx="2584624" cy="425276"/>
          </a:xfrm>
          <a:prstGeom prst="rect">
            <a:avLst/>
          </a:prstGeom>
          <a:solidFill>
            <a:srgbClr val="F9F7F7"/>
          </a:solidFill>
          <a:ln/>
        </p:spPr>
        <p:txBody>
          <a:bodyPr/>
          <a:lstStyle/>
          <a:p>
            <a:endParaRPr lang="pl-PL" noProof="0" dirty="0"/>
          </a:p>
        </p:txBody>
      </p:sp>
      <p:sp>
        <p:nvSpPr>
          <p:cNvPr id="17" name="Text 15"/>
          <p:cNvSpPr/>
          <p:nvPr/>
        </p:nvSpPr>
        <p:spPr>
          <a:xfrm>
            <a:off x="7230145" y="195537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pl-PL" sz="1650" noProof="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pl-PL" sz="1650" noProof="0" dirty="0"/>
          </a:p>
        </p:txBody>
      </p:sp>
      <p:sp>
        <p:nvSpPr>
          <p:cNvPr id="18" name="Text 16"/>
          <p:cNvSpPr/>
          <p:nvPr/>
        </p:nvSpPr>
        <p:spPr>
          <a:xfrm>
            <a:off x="6185892" y="24427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pl-PL" sz="1350" noProof="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Можливість донавчання</a:t>
            </a:r>
            <a:endParaRPr lang="pl-PL" sz="1350" noProof="0" dirty="0"/>
          </a:p>
        </p:txBody>
      </p:sp>
      <p:sp>
        <p:nvSpPr>
          <p:cNvPr id="19" name="Text 17"/>
          <p:cNvSpPr/>
          <p:nvPr/>
        </p:nvSpPr>
        <p:spPr>
          <a:xfrm>
            <a:off x="6185892" y="2749228"/>
            <a:ext cx="23011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pl-PL" sz="1100" noProof="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Систему можна розширювати новими прикладами та повторно налаштовувати, коли з'являються нові типи маніпуляцій.</a:t>
            </a:r>
            <a:endParaRPr lang="pl-PL" sz="11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6696"/>
            <a:ext cx="905098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3E25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85936" y="483949"/>
            <a:ext cx="90509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АРХІТЕКТУРА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69327"/>
            <a:ext cx="379348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Архітектура системи</a:t>
            </a:r>
            <a:endParaRPr lang="en-US" sz="2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6932B1-4338-D53E-CA7C-AD57AC4DC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8" y="1682088"/>
            <a:ext cx="7987482" cy="8379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44E114-4260-871F-561B-A18CEC280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945619"/>
            <a:ext cx="7987482" cy="13829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390040-A997-84FB-F4E2-6AB051980B4C}"/>
              </a:ext>
            </a:extLst>
          </p:cNvPr>
          <p:cNvSpPr txBox="1"/>
          <p:nvPr/>
        </p:nvSpPr>
        <p:spPr>
          <a:xfrm>
            <a:off x="3199092" y="2520078"/>
            <a:ext cx="2181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</a:rPr>
              <a:t>Режим 1: аналіз тексту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2CC224-CDA7-05C3-AC98-88BB7615822F}"/>
              </a:ext>
            </a:extLst>
          </p:cNvPr>
          <p:cNvSpPr txBox="1"/>
          <p:nvPr/>
        </p:nvSpPr>
        <p:spPr>
          <a:xfrm>
            <a:off x="3199091" y="4328597"/>
            <a:ext cx="2181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</a:rPr>
              <a:t>Режим 2: експертне донавчання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7608F7-29F4-F13F-198F-E84029BE48C6}"/>
              </a:ext>
            </a:extLst>
          </p:cNvPr>
          <p:cNvSpPr/>
          <p:nvPr/>
        </p:nvSpPr>
        <p:spPr>
          <a:xfrm>
            <a:off x="495300" y="231059"/>
            <a:ext cx="1600200" cy="330200"/>
          </a:xfrm>
          <a:prstGeom prst="rect">
            <a:avLst/>
          </a:prstGeom>
          <a:solidFill>
            <a:srgbClr val="F3E7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900" noProof="0" dirty="0">
                <a:solidFill>
                  <a:srgbClr val="3A2A22"/>
                </a:solidFill>
                <a:latin typeface="Georgia" panose="02040502050405020303" pitchFamily="18" charset="0"/>
              </a:rPr>
              <a:t>ПРИКЛАД РОБОТИ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A1DDF-722C-A2C1-DAF4-005E3FAF1D99}"/>
              </a:ext>
            </a:extLst>
          </p:cNvPr>
          <p:cNvSpPr txBox="1"/>
          <p:nvPr/>
        </p:nvSpPr>
        <p:spPr>
          <a:xfrm>
            <a:off x="495300" y="620816"/>
            <a:ext cx="8255000" cy="5693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l-PL" sz="3100" b="1" noProof="0" dirty="0">
                <a:solidFill>
                  <a:srgbClr val="201B19"/>
                </a:solidFill>
                <a:latin typeface="Georgia" panose="02040502050405020303" pitchFamily="18" charset="0"/>
              </a:rPr>
              <a:t>Приклад роботи системи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46FC2C-9433-9DB7-AC63-D613AD5AAE92}"/>
              </a:ext>
            </a:extLst>
          </p:cNvPr>
          <p:cNvSpPr txBox="1"/>
          <p:nvPr/>
        </p:nvSpPr>
        <p:spPr>
          <a:xfrm>
            <a:off x="520700" y="1190203"/>
            <a:ext cx="812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l-PL" sz="1400" noProof="0" dirty="0">
                <a:solidFill>
                  <a:srgbClr val="5B5652"/>
                </a:solidFill>
                <a:latin typeface="Georgia" panose="02040502050405020303" pitchFamily="18" charset="0"/>
              </a:rPr>
              <a:t>Вхід: фрагмент статті → Результат: виявлені техніки маніпуляції + обґрунтування рішення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8A00D8-20F4-0841-D3BB-5A2079054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968" y="1601747"/>
            <a:ext cx="7078063" cy="13908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3396B52-A9D7-1134-8F26-A6B0D5D0A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883" y="3096358"/>
            <a:ext cx="5634234" cy="187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02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53691"/>
            <a:ext cx="1524149" cy="266402"/>
          </a:xfrm>
          <a:prstGeom prst="roundRect">
            <a:avLst>
              <a:gd name="adj" fmla="val 6386"/>
            </a:avLst>
          </a:prstGeom>
          <a:solidFill>
            <a:srgbClr val="F3E3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81174" y="996181"/>
            <a:ext cx="135403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ТЕХНОЛОГІЧНИЙ СТЕК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76796"/>
            <a:ext cx="407231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Технології та інструменти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32384"/>
            <a:ext cx="354360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7658" y="19323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Мовні моделі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27658" y="2238896"/>
            <a:ext cx="345571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Bielik-4.5B-Instruct (продакшн) та Qwen-2.5-7B як модель-вчитель у процесі дистиляції знань.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932384"/>
            <a:ext cx="354360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92092" y="19323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Файн-тюнінг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192092" y="2238896"/>
            <a:ext cx="345578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Unsloth / QLoRA (4-бітова квантизація), навчання на Google Colab T4 — без необхідності виділеної GPU-інфраструктури.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202856"/>
            <a:ext cx="354360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7658" y="320285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Локальна інференція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027658" y="3509367"/>
            <a:ext cx="345571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Ollama / llama.cpp з форматом GGUF (8-біт) забезпечує швидку, приватну інференцію без з'єднання з хмарою.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202856"/>
            <a:ext cx="354360" cy="3543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92092" y="3202856"/>
            <a:ext cx="18355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Прикладний рівень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5192092" y="3509367"/>
            <a:ext cx="345578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FastAPI + WebSocket на боці бекенду, React + Vite на фронтенді, SQLite для відстеження тренувальних записів, середовище WSL2.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01434"/>
            <a:ext cx="777329" cy="248058"/>
          </a:xfrm>
          <a:prstGeom prst="roundRect">
            <a:avLst>
              <a:gd name="adj" fmla="val 6733"/>
            </a:avLst>
          </a:prstGeom>
          <a:solidFill>
            <a:srgbClr val="F3E3D8"/>
          </a:solidFill>
          <a:ln/>
        </p:spPr>
        <p:txBody>
          <a:bodyPr/>
          <a:lstStyle/>
          <a:p>
            <a:endParaRPr lang="pl-PL" noProof="0" dirty="0"/>
          </a:p>
        </p:txBody>
      </p:sp>
      <p:sp>
        <p:nvSpPr>
          <p:cNvPr id="3" name="Text 1"/>
          <p:cNvSpPr/>
          <p:nvPr/>
        </p:nvSpPr>
        <p:spPr>
          <a:xfrm>
            <a:off x="568375" y="1070823"/>
            <a:ext cx="777329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pl-PL" sz="750" noProof="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НАДІЙНІСТЬ</a:t>
            </a:r>
            <a:endParaRPr lang="pl-PL" sz="750" noProof="0" dirty="0"/>
          </a:p>
        </p:txBody>
      </p:sp>
      <p:sp>
        <p:nvSpPr>
          <p:cNvPr id="4" name="Text 2"/>
          <p:cNvSpPr/>
          <p:nvPr/>
        </p:nvSpPr>
        <p:spPr>
          <a:xfrm>
            <a:off x="496119" y="1290419"/>
            <a:ext cx="7516734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50"/>
              </a:lnSpc>
            </a:pPr>
            <a:r>
              <a:rPr lang="pl-PL" sz="2350" noProof="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Механізми підвищення надійності системи</a:t>
            </a:r>
            <a:endParaRPr lang="pl-PL" sz="2350" noProof="0" dirty="0"/>
          </a:p>
        </p:txBody>
      </p:sp>
      <p:sp>
        <p:nvSpPr>
          <p:cNvPr id="5" name="Text 3"/>
          <p:cNvSpPr/>
          <p:nvPr/>
        </p:nvSpPr>
        <p:spPr>
          <a:xfrm>
            <a:off x="496119" y="2069746"/>
            <a:ext cx="240953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pl-PL" sz="900" noProof="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pl-PL" sz="900" noProof="0" dirty="0"/>
          </a:p>
        </p:txBody>
      </p:sp>
      <p:sp>
        <p:nvSpPr>
          <p:cNvPr id="6" name="Shape 4"/>
          <p:cNvSpPr/>
          <p:nvPr/>
        </p:nvSpPr>
        <p:spPr>
          <a:xfrm>
            <a:off x="496119" y="2260172"/>
            <a:ext cx="4351139" cy="9144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pl-PL" noProof="0" dirty="0"/>
          </a:p>
        </p:txBody>
      </p:sp>
      <p:sp>
        <p:nvSpPr>
          <p:cNvPr id="7" name="Text 5"/>
          <p:cNvSpPr/>
          <p:nvPr/>
        </p:nvSpPr>
        <p:spPr>
          <a:xfrm>
            <a:off x="496119" y="2386602"/>
            <a:ext cx="4351139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0"/>
              </a:lnSpc>
            </a:pPr>
            <a:r>
              <a:rPr lang="pl-PL" sz="1150" noProof="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Валідація структури відповіді</a:t>
            </a:r>
            <a:endParaRPr lang="pl-PL" sz="1150" noProof="0" dirty="0"/>
          </a:p>
        </p:txBody>
      </p:sp>
      <p:sp>
        <p:nvSpPr>
          <p:cNvPr id="9" name="Text 7"/>
          <p:cNvSpPr/>
          <p:nvPr/>
        </p:nvSpPr>
        <p:spPr>
          <a:xfrm>
            <a:off x="496119" y="2823822"/>
            <a:ext cx="240953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pl-PL" sz="900" noProof="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pl-PL" sz="900" noProof="0" dirty="0"/>
          </a:p>
        </p:txBody>
      </p:sp>
      <p:sp>
        <p:nvSpPr>
          <p:cNvPr id="10" name="Shape 8"/>
          <p:cNvSpPr/>
          <p:nvPr/>
        </p:nvSpPr>
        <p:spPr>
          <a:xfrm>
            <a:off x="496119" y="3014247"/>
            <a:ext cx="4351139" cy="14288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pl-PL" noProof="0" dirty="0"/>
          </a:p>
        </p:txBody>
      </p:sp>
      <p:sp>
        <p:nvSpPr>
          <p:cNvPr id="11" name="Text 9"/>
          <p:cNvSpPr/>
          <p:nvPr/>
        </p:nvSpPr>
        <p:spPr>
          <a:xfrm>
            <a:off x="496119" y="3140677"/>
            <a:ext cx="4351139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0"/>
              </a:lnSpc>
            </a:pPr>
            <a:r>
              <a:rPr lang="pl-PL" sz="1150" noProof="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Автоматичне виправлення формату</a:t>
            </a:r>
            <a:endParaRPr lang="pl-PL" sz="1150" noProof="0" dirty="0"/>
          </a:p>
        </p:txBody>
      </p:sp>
      <p:sp>
        <p:nvSpPr>
          <p:cNvPr id="13" name="Text 11"/>
          <p:cNvSpPr/>
          <p:nvPr/>
        </p:nvSpPr>
        <p:spPr>
          <a:xfrm>
            <a:off x="496119" y="3580277"/>
            <a:ext cx="240953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pl-PL" sz="900" noProof="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pl-PL" sz="900" noProof="0" dirty="0"/>
          </a:p>
        </p:txBody>
      </p:sp>
      <p:sp>
        <p:nvSpPr>
          <p:cNvPr id="14" name="Shape 12"/>
          <p:cNvSpPr/>
          <p:nvPr/>
        </p:nvSpPr>
        <p:spPr>
          <a:xfrm>
            <a:off x="496119" y="3770703"/>
            <a:ext cx="4351139" cy="14288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pl-PL" noProof="0" dirty="0"/>
          </a:p>
        </p:txBody>
      </p:sp>
      <p:sp>
        <p:nvSpPr>
          <p:cNvPr id="15" name="Text 13"/>
          <p:cNvSpPr/>
          <p:nvPr/>
        </p:nvSpPr>
        <p:spPr>
          <a:xfrm>
            <a:off x="496119" y="3859479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pl-PL" sz="1150" noProof="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Нормалізація тегів</a:t>
            </a:r>
            <a:endParaRPr lang="pl-PL" sz="1150" noProof="0" dirty="0"/>
          </a:p>
        </p:txBody>
      </p:sp>
      <p:sp>
        <p:nvSpPr>
          <p:cNvPr id="17" name="Shape 15"/>
          <p:cNvSpPr/>
          <p:nvPr/>
        </p:nvSpPr>
        <p:spPr>
          <a:xfrm>
            <a:off x="5059189" y="2001509"/>
            <a:ext cx="3680147" cy="2372751"/>
          </a:xfrm>
          <a:prstGeom prst="roundRect">
            <a:avLst>
              <a:gd name="adj" fmla="val 517"/>
            </a:avLst>
          </a:prstGeom>
          <a:solidFill>
            <a:srgbClr val="1A3A52"/>
          </a:solidFill>
          <a:ln/>
        </p:spPr>
        <p:txBody>
          <a:bodyPr/>
          <a:lstStyle/>
          <a:p>
            <a:endParaRPr lang="pl-PL" noProof="0" dirty="0"/>
          </a:p>
        </p:txBody>
      </p:sp>
      <p:sp>
        <p:nvSpPr>
          <p:cNvPr id="18" name="Text 16"/>
          <p:cNvSpPr/>
          <p:nvPr/>
        </p:nvSpPr>
        <p:spPr>
          <a:xfrm>
            <a:off x="5179665" y="2103903"/>
            <a:ext cx="2328714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pl-PL" sz="1150" noProof="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Показник правильної структури</a:t>
            </a:r>
            <a:endParaRPr lang="pl-PL" sz="1150" noProof="0" dirty="0"/>
          </a:p>
        </p:txBody>
      </p:sp>
      <p:sp>
        <p:nvSpPr>
          <p:cNvPr id="19" name="Text 17"/>
          <p:cNvSpPr/>
          <p:nvPr/>
        </p:nvSpPr>
        <p:spPr>
          <a:xfrm>
            <a:off x="5179664" y="2198037"/>
            <a:ext cx="3439195" cy="74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900"/>
              </a:lnSpc>
              <a:buNone/>
            </a:pPr>
            <a:r>
              <a:rPr lang="pl-PL" sz="3600" noProof="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96%+</a:t>
            </a:r>
            <a:endParaRPr lang="pl-PL" sz="3600" noProof="0" dirty="0"/>
          </a:p>
        </p:txBody>
      </p:sp>
      <p:sp>
        <p:nvSpPr>
          <p:cNvPr id="20" name="Text 18"/>
          <p:cNvSpPr/>
          <p:nvPr/>
        </p:nvSpPr>
        <p:spPr>
          <a:xfrm>
            <a:off x="5179663" y="2944150"/>
            <a:ext cx="3439195" cy="746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pl-PL" sz="1100" noProof="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PSR (Parse Success Rate) — ефективність зчитування структурованих відповідей моделі після застосування повного конвеєра виправлення.</a:t>
            </a:r>
            <a:endParaRPr lang="pl-PL" sz="11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42168"/>
            <a:ext cx="1682877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3E25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5074" y="489421"/>
            <a:ext cx="152496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РЕЗУЛЬТАТИ ОЦІНЮВАННЯ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74799"/>
            <a:ext cx="618038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Експериментальні результати (N = 1 521)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589856"/>
            <a:ext cx="4752677" cy="1876425"/>
          </a:xfrm>
          <a:prstGeom prst="roundRect">
            <a:avLst>
              <a:gd name="adj" fmla="val 113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2863" y="1684437"/>
            <a:ext cx="132672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Метрика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57871" y="1684437"/>
            <a:ext cx="7551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Без адаптера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01305" y="1684437"/>
            <a:ext cx="755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Прототип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44739" y="1684437"/>
            <a:ext cx="75753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XAI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2863" y="2322463"/>
            <a:ext cx="132672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PSR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57871" y="2322463"/>
            <a:ext cx="755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01305" y="2322463"/>
            <a:ext cx="755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99,9%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44739" y="2322463"/>
            <a:ext cx="75753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96,3%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2863" y="2733675"/>
            <a:ext cx="132672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57871" y="2733675"/>
            <a:ext cx="755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0,10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01305" y="2733675"/>
            <a:ext cx="755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0,49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44739" y="2733675"/>
            <a:ext cx="75753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0,28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863" y="3144887"/>
            <a:ext cx="132672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Exact Match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57871" y="3144887"/>
            <a:ext cx="755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38%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01305" y="3144887"/>
            <a:ext cx="7551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73%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44739" y="3144887"/>
            <a:ext cx="75753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73%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99435" y="1589856"/>
            <a:ext cx="3053135" cy="1282824"/>
          </a:xfrm>
          <a:prstGeom prst="roundRect">
            <a:avLst>
              <a:gd name="adj" fmla="val 1658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194" y="1804913"/>
            <a:ext cx="177180" cy="14175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060132" y="1767036"/>
            <a:ext cx="24506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ru-RU" sz="11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Прототип F1 = 0,49 — конкурентний для локальної моделі 4,5B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599435" y="3032150"/>
            <a:ext cx="3053135" cy="1509638"/>
          </a:xfrm>
          <a:prstGeom prst="roundRect">
            <a:avLst>
              <a:gd name="adj" fmla="val 1409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1194" y="3247206"/>
            <a:ext cx="177180" cy="141759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060132" y="3209330"/>
            <a:ext cx="2450678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ru-RU" sz="11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Податок на пояснюваність: обґрунтування XAI знижують F1 до 0,28 при структурній</a:t>
            </a:r>
            <a:r>
              <a:rPr lang="en-US" sz="11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</a:t>
            </a:r>
            <a:r>
              <a:rPr lang="ru-RU" sz="11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точності 73%.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77329"/>
            <a:ext cx="807387" cy="266402"/>
          </a:xfrm>
          <a:prstGeom prst="roundRect">
            <a:avLst>
              <a:gd name="adj" fmla="val 6386"/>
            </a:avLst>
          </a:prstGeom>
          <a:solidFill>
            <a:srgbClr val="F3E3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81174" y="819820"/>
            <a:ext cx="94431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ПІДСУМОК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00435"/>
            <a:ext cx="527789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Досягнення та напрямки розвитку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89778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Реалізовані цілі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2285777"/>
            <a:ext cx="212601" cy="2126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816" y="2278707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Повна система: інференція, донавчання, оцінювання та hot-swap моделі в одній платформі.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3022922"/>
            <a:ext cx="212601" cy="2126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56816" y="3015853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Повністю локальна робота — без залежності від хмарних API, з гарантією конфіденційності даних.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3760068"/>
            <a:ext cx="212601" cy="2126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6816" y="3752999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Адаптація до нових даних за лічені хвилини завдяки QLoRA та автоматизованому MLOps-конвеєру.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749701" y="189778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Планований розвиток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2285777"/>
            <a:ext cx="212601" cy="21260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10398" y="2278707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GPU понад 24 ГБ — навчання моделей 13B+ для вищого F1 без компромісу в пояснюваності.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3022922"/>
            <a:ext cx="212601" cy="21260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10398" y="3015853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LLM-as-a-Judge — автоматична оцінка якості обґрунтувань без участі людини.</a:t>
            </a:r>
            <a:endParaRPr lang="en-US" sz="11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3760068"/>
            <a:ext cx="212601" cy="21260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210398" y="3752999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RBAC та зменшення упередженості — контроль доступу та зменшення упередженості класифікатора.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494</Words>
  <Application>Microsoft Office PowerPoint</Application>
  <PresentationFormat>On-screen Show (16:9)</PresentationFormat>
  <Paragraphs>93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Georgia</vt:lpstr>
      <vt:lpstr>Platypi Medium</vt:lpstr>
      <vt:lpstr>Arial</vt:lpstr>
      <vt:lpstr>Source Serif 4</vt:lpstr>
      <vt:lpstr>Platypi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Vadym A</cp:lastModifiedBy>
  <cp:revision>12</cp:revision>
  <dcterms:created xsi:type="dcterms:W3CDTF">2026-05-10T14:35:22Z</dcterms:created>
  <dcterms:modified xsi:type="dcterms:W3CDTF">2026-06-17T17:36:02Z</dcterms:modified>
</cp:coreProperties>
</file>