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Platypi Light" pitchFamily="2" charset="0"/>
      <p:regular r:id="rId15"/>
      <p:italic r:id="rId16"/>
    </p:embeddedFont>
    <p:embeddedFont>
      <p:font typeface="Platypi Medium" pitchFamily="2" charset="0"/>
      <p:regular r:id="rId17"/>
      <p:italic r:id="rId18"/>
    </p:embeddedFont>
    <p:embeddedFont>
      <p:font typeface="Source Serif 4" panose="02040603050405020204" pitchFamily="18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31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22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9904" y="147674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AntyDezinformator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0325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 detekcji dezinformacji z wyjaśnialną sztuczną inteligencją (XAI)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24956"/>
            <a:ext cx="8151763" cy="10567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9579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Autor: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Vadym Abrosimov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31231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Promotor: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dr inż. Andrzej Burda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9579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Praca inżynierska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7937"/>
            <a:ext cx="994990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20428"/>
            <a:ext cx="8248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CEL PROJEKTU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01043"/>
            <a:ext cx="5689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 realizuje AntyDezinformator?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5169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1701180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6927" y="2442716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Detekcja technik manipulacji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927" y="2970684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Automatyczna identyfikacja </a:t>
            </a:r>
            <a:r>
              <a:rPr lang="pl-PL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 technik dezinformacji</a:t>
            </a:r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 polskojęzycznych tekstach — od manipulowania emocjami po wyolbrzymianie faktów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9651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4465662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421410" y="2442716"/>
            <a:ext cx="2262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Wyjaśnialne uzasadnienia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1410" y="2749228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 generuje nie tylko etykietę klasyfikacyjną, lecz także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czytelne uzasadnienie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decyzji zrozumiałe dla analityka.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33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7230145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185892" y="24427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Pełna pętla MLOps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85892" y="2749228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Zintegrowany cykl: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trening → douczanie → ewaluacja → wdrożenie (HITL) 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 kontrolą operatora na etapie decyzji o wdrożeniu.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291"/>
            <a:ext cx="797198" cy="241176"/>
          </a:xfrm>
          <a:prstGeom prst="roundRect">
            <a:avLst>
              <a:gd name="adj" fmla="val 6348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379" y="463302"/>
            <a:ext cx="634678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MOTYWACJA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07380"/>
            <a:ext cx="7370713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Dlaczego istniejące rozwiązania nie wystarczą?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96119" y="1407468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1831" y="1407468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</p:sp>
      <p:sp>
        <p:nvSpPr>
          <p:cNvPr id="7" name="Text 5"/>
          <p:cNvSpPr/>
          <p:nvPr/>
        </p:nvSpPr>
        <p:spPr>
          <a:xfrm>
            <a:off x="680814" y="1549301"/>
            <a:ext cx="231092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BERT i modele klasyfikacyjne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0814" y="1863403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Zwracają wyłącznie </a:t>
            </a:r>
            <a:r>
              <a:rPr lang="en-US" sz="10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wynik liczbowy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brak jakiegokolwiek wyjaśnienia podjętej decyzji.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507903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31" y="2507903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680814" y="2649736"/>
            <a:ext cx="2068041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GPT-4 i modele chmurowe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0814" y="2963838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Ograniczenia cenzury treści, </a:t>
            </a:r>
            <a:r>
              <a:rPr lang="en-US" sz="10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wysokie koszty API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oraz ryzyko naruszenia prywatności danych.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3608338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31" y="3608338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</p:sp>
      <p:sp>
        <p:nvSpPr>
          <p:cNvPr id="15" name="Text 13"/>
          <p:cNvSpPr/>
          <p:nvPr/>
        </p:nvSpPr>
        <p:spPr>
          <a:xfrm>
            <a:off x="680814" y="3750171"/>
            <a:ext cx="166025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Ręczny fact-checking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0814" y="4064273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Weryfikacja jednego artykułu zajmuje </a:t>
            </a:r>
            <a:r>
              <a:rPr lang="en-US" sz="10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godziny pracy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eksperta — metoda całkowicie nieskalo­walna.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63654" y="1278285"/>
            <a:ext cx="3680743" cy="3444850"/>
          </a:xfrm>
          <a:prstGeom prst="roundRect">
            <a:avLst>
              <a:gd name="adj" fmla="val 556"/>
            </a:avLst>
          </a:prstGeom>
          <a:solidFill>
            <a:srgbClr val="1A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5191199" y="1393106"/>
            <a:ext cx="161500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Luka technologiczna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91199" y="1707207"/>
            <a:ext cx="3425651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Żadne z dostępnych rozwiązań nie łączy jednocześnie: lokalnego wdrożenia, wyjaśnialności oraz adaptacji do nowych danych bez zewnętrznych zależności.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3691"/>
            <a:ext cx="1524149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96181"/>
            <a:ext cx="13540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STOS TECHNOLOGICZNY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76796"/>
            <a:ext cx="40723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 i narzędzia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32384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93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Modele językowe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2238896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Bielik-4.5B-Instruct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(produkcja) oraz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Qwen-2.5-7B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jako model nauczyciela w procesie destylacji wiedzy.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32384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2092" y="193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Fine-tuning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92092" y="2238896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Unsloth / QLoRA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(kwantyzacja 4-bit) trenowane na Google Colab T4 — bez potrzeby dedykowanej infrastruktury GPU.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02856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32028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Inferencja lokalna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3509367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Ollama / llama.cpp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z formatem GGUF (8-bit) zapewnia szybką, prywatną inferencję bez połączenia z chmurą.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02856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92092" y="3202856"/>
            <a:ext cx="183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Warstwa aplikacyjna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92092" y="3509367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FastAPI + WebSocket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po stronie backendu,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+ Vite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na frontendzie,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SQLite 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śledzenia rekordów treningowych, środowisko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WSL2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6696"/>
            <a:ext cx="108473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83949"/>
            <a:ext cx="9050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ARCHITEKTURA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9327"/>
            <a:ext cx="37934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Architektura systemu</a:t>
            </a:r>
            <a:endParaRPr lang="en-US" sz="2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932B1-4338-D53E-CA7C-AD57AC4D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8" y="1682088"/>
            <a:ext cx="7987482" cy="83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44E114-4260-871F-561B-A18CEC280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45619"/>
            <a:ext cx="7987482" cy="1382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90040-A997-84FB-F4E2-6AB051980B4C}"/>
              </a:ext>
            </a:extLst>
          </p:cNvPr>
          <p:cNvSpPr txBox="1"/>
          <p:nvPr/>
        </p:nvSpPr>
        <p:spPr>
          <a:xfrm>
            <a:off x="3199092" y="2520078"/>
            <a:ext cx="2181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Główny przepływ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CC224-CDA7-05C3-AC98-88BB7615822F}"/>
              </a:ext>
            </a:extLst>
          </p:cNvPr>
          <p:cNvSpPr txBox="1"/>
          <p:nvPr/>
        </p:nvSpPr>
        <p:spPr>
          <a:xfrm>
            <a:off x="3199091" y="4328597"/>
            <a:ext cx="2181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Pętla </a:t>
            </a:r>
            <a:r>
              <a:rPr lang="pl-PL" sz="11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MLOps</a:t>
            </a:r>
            <a:endParaRPr lang="pl-PL" sz="110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304"/>
            <a:ext cx="921841" cy="214759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67395"/>
            <a:ext cx="777329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NIEZAWODNOŚĆ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6991"/>
            <a:ext cx="576917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3-fazowe naprawianie odpowiedzi LLM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332309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522735"/>
            <a:ext cx="4351139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611511"/>
            <a:ext cx="177938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Ścisłe parsowanie JSON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1902172"/>
            <a:ext cx="43511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Próba bezpośredniej deserializacji odpowiedzi modelu zgodnie ze zdefiniowanym schematem wyjściowym.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451497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641922"/>
            <a:ext cx="4351139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730698"/>
            <a:ext cx="192166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Odzyskiwanie przez regex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119" y="3021360"/>
            <a:ext cx="435113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Automatyczna naprawa typowych błędów strukturalnych: brakujące nawiasy, niepoprawne klucze, ucięte wartości.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119" y="3570684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3761110"/>
            <a:ext cx="4351139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849886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Normalizacja tagów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119" y="4140547"/>
            <a:ext cx="4351139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Korekcja błędów ortograficznych w etykietach technik, np.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EMOTIORAL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→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EMOTIONAL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59189" y="1217116"/>
            <a:ext cx="3680147" cy="3495080"/>
          </a:xfrm>
          <a:prstGeom prst="roundRect">
            <a:avLst>
              <a:gd name="adj" fmla="val 517"/>
            </a:avLst>
          </a:prstGeom>
          <a:solidFill>
            <a:srgbClr val="1A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5179665" y="1319510"/>
            <a:ext cx="232871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Wskaźnik poprawnej struktury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79665" y="1610171"/>
            <a:ext cx="3439195" cy="753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0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96%+</a:t>
            </a:r>
            <a:endParaRPr lang="en-US" sz="4700" dirty="0"/>
          </a:p>
        </p:txBody>
      </p:sp>
      <p:sp>
        <p:nvSpPr>
          <p:cNvPr id="20" name="Text 18"/>
          <p:cNvSpPr/>
          <p:nvPr/>
        </p:nvSpPr>
        <p:spPr>
          <a:xfrm>
            <a:off x="5179665" y="2465710"/>
            <a:ext cx="3439195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PSR (Parse Success Rate)</a:t>
            </a:r>
            <a:r>
              <a:rPr lang="en-US" sz="9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skuteczność odczytu ustrukturyzowanych odpowiedzi modelu po zastosowaniu pełnego potoku naprawczego.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2168"/>
            <a:ext cx="127865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89421"/>
            <a:ext cx="10990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WYNIKI EWALUACJI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74799"/>
            <a:ext cx="61803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Wyniki eksperymentalne (N = 1 521)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589856"/>
            <a:ext cx="4752677" cy="1876425"/>
          </a:xfrm>
          <a:prstGeom prst="roundRect">
            <a:avLst>
              <a:gd name="adj" fmla="val 11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863" y="1684437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Metryka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57871" y="1684437"/>
            <a:ext cx="7551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Brak adaptera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305" y="168443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Prototyp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4739" y="1684437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XAI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863" y="2322463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57871" y="2322463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1305" y="2322463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99,9%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4739" y="2322463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96,3%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863" y="2733675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7871" y="2733675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1305" y="2733675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0,49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4739" y="2733675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63" y="3144887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Exact 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57871" y="314488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01305" y="314488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4739" y="3144887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73%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99435" y="1589856"/>
            <a:ext cx="3053135" cy="1282824"/>
          </a:xfrm>
          <a:prstGeom prst="roundRect">
            <a:avLst>
              <a:gd name="adj" fmla="val 1658"/>
            </a:avLst>
          </a:prstGeom>
          <a:solidFill>
            <a:srgbClr val="B6FCB8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94" y="1804913"/>
            <a:ext cx="177180" cy="1417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60132" y="1767036"/>
            <a:ext cx="24506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Prototyp F1 = 0,49</a:t>
            </a: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przewyższa wynik PL-RoBERTa-Large na zbiorze MIPD — znaczący wynik dla modelu 4,5B.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599435" y="3032150"/>
            <a:ext cx="3053135" cy="1509638"/>
          </a:xfrm>
          <a:prstGeom prst="roundRect">
            <a:avLst>
              <a:gd name="adj" fmla="val 1409"/>
            </a:avLst>
          </a:prstGeom>
          <a:solidFill>
            <a:srgbClr val="B6D6FC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194" y="3247206"/>
            <a:ext cx="177180" cy="14175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060132" y="3209330"/>
            <a:ext cx="245067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Podatek od wyjaśnialności:</a:t>
            </a: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dodanie uzasadnień XAI obniża F1 do 0,28 — koszt interpretowalności przy zachowaniu dokładności strukturalnej na poziomie 73%.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7329"/>
            <a:ext cx="1114425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19820"/>
            <a:ext cx="94431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PODSUMOWANIE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0435"/>
            <a:ext cx="52778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Osiągnięcia i kierunki rozwoju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9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Zrealizowane cele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285777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27870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Kompletny system: inferencja, douczanie, ewaluacja i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hot-swap modelu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 jednej platformie.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022922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816" y="301585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Działanie w pełni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lokalne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bez zależności od API chmurowych, z gwarancją prywatności danych.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760068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75299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Adaptacja do nowych danych w 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ciągu minut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dzięki QLoRA i zautomatyzowanej pętli MLOps.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49701" y="189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Planowany rozwój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285777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227870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GPU powyżej 24 GB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trening modeli 13B+ dla wyższego F1 bez kompromisu wyjaśnialności.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022922"/>
            <a:ext cx="212601" cy="212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0398" y="301585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LLM-as-a-Judge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automatyczna ocena jakości uzasadnień bez udziału człowieka.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760068"/>
            <a:ext cx="212601" cy="21260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0398" y="375299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RBAC i bias mitigation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kontrola dostępu oraz redukcja stronniczości klasyfikatora.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520</Words>
  <Application>Microsoft Office PowerPoint</Application>
  <PresentationFormat>On-screen Show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Platypi Medium</vt:lpstr>
      <vt:lpstr>Source Serif 4</vt:lpstr>
      <vt:lpstr>Arial</vt:lpstr>
      <vt:lpstr>Platypi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Vadym A</cp:lastModifiedBy>
  <cp:revision>5</cp:revision>
  <dcterms:created xsi:type="dcterms:W3CDTF">2026-05-10T14:35:22Z</dcterms:created>
  <dcterms:modified xsi:type="dcterms:W3CDTF">2026-05-11T11:35:45Z</dcterms:modified>
</cp:coreProperties>
</file>