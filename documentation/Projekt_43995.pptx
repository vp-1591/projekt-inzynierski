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1"/>
  </p:notesMasterIdLst>
  <p:sldIdLst>
    <p:sldId id="264" r:id="rId2"/>
    <p:sldId id="258" r:id="rId3"/>
    <p:sldId id="257" r:id="rId4"/>
    <p:sldId id="260" r:id="rId5"/>
    <p:sldId id="267" r:id="rId6"/>
    <p:sldId id="259" r:id="rId7"/>
    <p:sldId id="261" r:id="rId8"/>
    <p:sldId id="262" r:id="rId9"/>
    <p:sldId id="263" r:id="rId10"/>
  </p:sldIdLst>
  <p:sldSz cx="9144000" cy="5143500" type="screen16x9"/>
  <p:notesSz cx="5143500" cy="9144000"/>
  <p:embeddedFontLst>
    <p:embeddedFont>
      <p:font typeface="Georgia" panose="02040502050405020303" pitchFamily="18" charset="0"/>
      <p:regular r:id="rId12"/>
      <p:bold r:id="rId13"/>
      <p:italic r:id="rId14"/>
      <p:boldItalic r:id="rId15"/>
    </p:embeddedFont>
    <p:embeddedFont>
      <p:font typeface="Montserrat" panose="00000500000000000000" pitchFamily="2" charset="0"/>
      <p:regular r:id="rId16"/>
      <p:bold r:id="rId17"/>
      <p:italic r:id="rId18"/>
      <p:boldItalic r:id="rId19"/>
    </p:embeddedFont>
    <p:embeddedFont>
      <p:font typeface="Montserrat Medium" panose="00000600000000000000" pitchFamily="2" charset="0"/>
      <p:regular r:id="rId20"/>
      <p:italic r:id="rId21"/>
    </p:embeddedFont>
    <p:embeddedFont>
      <p:font typeface="Platypi Light" pitchFamily="2" charset="0"/>
      <p:regular r:id="rId22"/>
      <p:italic r:id="rId23"/>
    </p:embeddedFont>
    <p:embeddedFont>
      <p:font typeface="Platypi Medium" pitchFamily="2" charset="0"/>
      <p:regular r:id="rId24"/>
      <p:italic r:id="rId25"/>
    </p:embeddedFont>
    <p:embeddedFont>
      <p:font typeface="Source Serif 4" panose="02040603050405020204" pitchFamily="18" charset="0"/>
      <p:regular r:id="rId26"/>
      <p:bold r:id="rId27"/>
      <p:italic r:id="rId28"/>
      <p:boldItalic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font" Target="fonts/font15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font" Target="fonts/font1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font" Target="fonts/font1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42278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109FC8B7-D987-C14E-AE5C-EBE3017B53D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2187978" y="598342"/>
            <a:ext cx="1416953" cy="1544339"/>
          </a:xfrm>
          <a:pattFill prst="lgCheck">
            <a:fgClr>
              <a:srgbClr val="E8E6E0"/>
            </a:fgClr>
            <a:bgClr>
              <a:schemeClr val="bg1"/>
            </a:bgClr>
          </a:pattFill>
        </p:spPr>
        <p:txBody>
          <a:bodyPr anchor="ctr">
            <a:normAutofit/>
          </a:bodyPr>
          <a:lstStyle>
            <a:lvl1pPr marL="0" indent="0" algn="ctr">
              <a:buNone/>
              <a:defRPr sz="900" b="0" i="0">
                <a:solidFill>
                  <a:srgbClr val="254441"/>
                </a:solidFill>
                <a:latin typeface="Montserrat Medium" pitchFamily="2" charset="77"/>
              </a:defRPr>
            </a:lvl1pPr>
          </a:lstStyle>
          <a:p>
            <a:r>
              <a:rPr lang="en-US" dirty="0"/>
              <a:t>add picture here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F11B03CD-BB1E-8A48-9306-610C598ED54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02478" y="598342"/>
            <a:ext cx="1416953" cy="1544339"/>
          </a:xfrm>
          <a:pattFill prst="lgCheck">
            <a:fgClr>
              <a:srgbClr val="E8E6E0"/>
            </a:fgClr>
            <a:bgClr>
              <a:schemeClr val="bg1"/>
            </a:bgClr>
          </a:pattFill>
        </p:spPr>
        <p:txBody>
          <a:bodyPr anchor="ctr">
            <a:normAutofit/>
          </a:bodyPr>
          <a:lstStyle>
            <a:lvl1pPr marL="0" indent="0" algn="ctr">
              <a:buNone/>
              <a:defRPr sz="900" b="0" i="0">
                <a:solidFill>
                  <a:srgbClr val="254441"/>
                </a:solidFill>
                <a:latin typeface="Montserrat Medium" pitchFamily="2" charset="77"/>
              </a:defRPr>
            </a:lvl1pPr>
          </a:lstStyle>
          <a:p>
            <a:r>
              <a:rPr lang="en-US" dirty="0"/>
              <a:t>add picture here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664219D4-7144-044E-A69E-B8E4E7D28CB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73016" y="598342"/>
            <a:ext cx="1416953" cy="1544339"/>
          </a:xfrm>
          <a:pattFill prst="lgCheck">
            <a:fgClr>
              <a:srgbClr val="E8E6E0"/>
            </a:fgClr>
            <a:bgClr>
              <a:schemeClr val="bg1"/>
            </a:bgClr>
          </a:pattFill>
        </p:spPr>
        <p:txBody>
          <a:bodyPr anchor="ctr">
            <a:normAutofit/>
          </a:bodyPr>
          <a:lstStyle>
            <a:lvl1pPr marL="0" indent="0" algn="ctr">
              <a:buNone/>
              <a:defRPr sz="900" b="0" i="0">
                <a:solidFill>
                  <a:srgbClr val="254441"/>
                </a:solidFill>
                <a:latin typeface="Montserrat Medium" pitchFamily="2" charset="77"/>
              </a:defRPr>
            </a:lvl1pPr>
          </a:lstStyle>
          <a:p>
            <a:r>
              <a:rPr lang="en-US" dirty="0"/>
              <a:t>add picture here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F1250C75-F322-CB48-9AA0-3F557E6896C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87978" y="2365596"/>
            <a:ext cx="1416953" cy="1544339"/>
          </a:xfrm>
          <a:pattFill prst="lgCheck">
            <a:fgClr>
              <a:srgbClr val="E8E6E0"/>
            </a:fgClr>
            <a:bgClr>
              <a:schemeClr val="bg1"/>
            </a:bgClr>
          </a:pattFill>
        </p:spPr>
        <p:txBody>
          <a:bodyPr anchor="ctr">
            <a:normAutofit/>
          </a:bodyPr>
          <a:lstStyle>
            <a:lvl1pPr marL="0" indent="0" algn="ctr">
              <a:buNone/>
              <a:defRPr sz="900" b="0" i="0">
                <a:solidFill>
                  <a:srgbClr val="254441"/>
                </a:solidFill>
                <a:latin typeface="Montserrat Medium" pitchFamily="2" charset="77"/>
              </a:defRPr>
            </a:lvl1pPr>
          </a:lstStyle>
          <a:p>
            <a:r>
              <a:rPr lang="en-US" dirty="0"/>
              <a:t>add picture here</a:t>
            </a:r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6DD091A-4D02-124E-ADF0-DF01A538F61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902478" y="2365596"/>
            <a:ext cx="1416953" cy="1544339"/>
          </a:xfrm>
          <a:pattFill prst="lgCheck">
            <a:fgClr>
              <a:srgbClr val="E8E6E0"/>
            </a:fgClr>
            <a:bgClr>
              <a:schemeClr val="bg1"/>
            </a:bgClr>
          </a:pattFill>
        </p:spPr>
        <p:txBody>
          <a:bodyPr anchor="ctr">
            <a:normAutofit/>
          </a:bodyPr>
          <a:lstStyle>
            <a:lvl1pPr marL="0" indent="0" algn="ctr">
              <a:buNone/>
              <a:defRPr sz="900" b="0" i="0">
                <a:solidFill>
                  <a:srgbClr val="254441"/>
                </a:solidFill>
                <a:latin typeface="Montserrat Medium" pitchFamily="2" charset="77"/>
              </a:defRPr>
            </a:lvl1pPr>
          </a:lstStyle>
          <a:p>
            <a:r>
              <a:rPr lang="en-US" dirty="0"/>
              <a:t>add picture here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776B7907-ACBE-2344-A81D-5B90943320B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573016" y="2365596"/>
            <a:ext cx="1416953" cy="1544339"/>
          </a:xfrm>
          <a:pattFill prst="lgCheck">
            <a:fgClr>
              <a:srgbClr val="E8E6E0"/>
            </a:fgClr>
            <a:bgClr>
              <a:schemeClr val="bg1"/>
            </a:bgClr>
          </a:pattFill>
        </p:spPr>
        <p:txBody>
          <a:bodyPr anchor="ctr">
            <a:normAutofit/>
          </a:bodyPr>
          <a:lstStyle>
            <a:lvl1pPr marL="0" indent="0" algn="ctr">
              <a:buNone/>
              <a:defRPr sz="900" b="0" i="0">
                <a:solidFill>
                  <a:srgbClr val="254441"/>
                </a:solidFill>
                <a:latin typeface="Montserrat Medium" pitchFamily="2" charset="77"/>
              </a:defRPr>
            </a:lvl1pPr>
          </a:lstStyle>
          <a:p>
            <a:r>
              <a:rPr lang="en-US" dirty="0"/>
              <a:t>add picture here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9455C6-512E-1843-86D6-F4807638BAF0}"/>
              </a:ext>
            </a:extLst>
          </p:cNvPr>
          <p:cNvSpPr txBox="1"/>
          <p:nvPr userDrawn="1"/>
        </p:nvSpPr>
        <p:spPr>
          <a:xfrm>
            <a:off x="454429" y="4902452"/>
            <a:ext cx="951401" cy="1499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30000"/>
              </a:lnSpc>
              <a:spcBef>
                <a:spcPts val="750"/>
              </a:spcBef>
            </a:pPr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itchFamily="2" charset="77"/>
              </a:rPr>
              <a:t>www.</a:t>
            </a:r>
            <a:r>
              <a:rPr lang="pl-PL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Montserrat" pitchFamily="2" charset="77"/>
              </a:rPr>
              <a:t>vizja.pl</a:t>
            </a:r>
            <a:endParaRPr lang="en-US" sz="750" dirty="0">
              <a:solidFill>
                <a:schemeClr val="tx1">
                  <a:lumMod val="85000"/>
                  <a:lumOff val="15000"/>
                </a:schemeClr>
              </a:solidFill>
              <a:latin typeface="Montserrat" pitchFamily="2" charset="77"/>
            </a:endParaRPr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10A38E2E-FD52-9B68-5174-66EA5D14F45C}"/>
              </a:ext>
            </a:extLst>
          </p:cNvPr>
          <p:cNvSpPr txBox="1"/>
          <p:nvPr userDrawn="1"/>
        </p:nvSpPr>
        <p:spPr>
          <a:xfrm>
            <a:off x="4572000" y="4722754"/>
            <a:ext cx="173236" cy="1269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EB288C9E-C8EC-D74F-ACF6-550FE1A1877B}" type="slidenum">
              <a:rPr lang="en-US" sz="825" b="1" i="0" smtClean="0">
                <a:solidFill>
                  <a:schemeClr val="tx1">
                    <a:lumMod val="85000"/>
                    <a:lumOff val="15000"/>
                  </a:schemeClr>
                </a:solidFill>
                <a:latin typeface="Montserrat" pitchFamily="2" charset="77"/>
              </a:rPr>
              <a:t>‹#›</a:t>
            </a:fld>
            <a:endParaRPr lang="en-US" sz="825" b="1" i="0" dirty="0">
              <a:solidFill>
                <a:schemeClr val="tx1">
                  <a:lumMod val="85000"/>
                  <a:lumOff val="15000"/>
                </a:schemeClr>
              </a:solidFill>
              <a:latin typeface="Montserrat" pitchFamily="2" charset="77"/>
            </a:endParaRP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1861A9A2-3CD6-BF13-C34A-47FEF40B20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34683" y="4459533"/>
            <a:ext cx="1590893" cy="461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70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3623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>
            <a:extLst>
              <a:ext uri="{FF2B5EF4-FFF2-40B4-BE49-F238E27FC236}">
                <a16:creationId xmlns:a16="http://schemas.microsoft.com/office/drawing/2014/main" id="{CABD3DFD-46A8-1D4C-8C95-8E3D4268C4B8}"/>
              </a:ext>
            </a:extLst>
          </p:cNvPr>
          <p:cNvSpPr txBox="1"/>
          <p:nvPr/>
        </p:nvSpPr>
        <p:spPr>
          <a:xfrm>
            <a:off x="409564" y="1006720"/>
            <a:ext cx="7997836" cy="67710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pl-PL" sz="4400" b="1" dirty="0">
                <a:solidFill>
                  <a:srgbClr val="1F1F1F"/>
                </a:solidFill>
                <a:latin typeface="Platypi Medium" pitchFamily="2" charset="0"/>
                <a:cs typeface="Platypi Medium" pitchFamily="2" charset="0"/>
              </a:rPr>
              <a:t>System detekcji manipulacji</a:t>
            </a:r>
            <a:endParaRPr lang="en-US" sz="4400" b="1" dirty="0">
              <a:solidFill>
                <a:srgbClr val="1F1F1F"/>
              </a:solidFill>
              <a:latin typeface="Platypi Medium" pitchFamily="2" charset="0"/>
              <a:cs typeface="Platypi Medium" pitchFamily="2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A154E1E-5264-0546-9451-86264FC84397}"/>
              </a:ext>
            </a:extLst>
          </p:cNvPr>
          <p:cNvSpPr/>
          <p:nvPr/>
        </p:nvSpPr>
        <p:spPr>
          <a:xfrm>
            <a:off x="342900" y="3638145"/>
            <a:ext cx="4229100" cy="747363"/>
          </a:xfrm>
          <a:prstGeom prst="rect">
            <a:avLst/>
          </a:prstGeom>
          <a:solidFill>
            <a:srgbClr val="FEBF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14D198-C77F-4E4B-A249-5E61262DD647}"/>
              </a:ext>
            </a:extLst>
          </p:cNvPr>
          <p:cNvSpPr txBox="1"/>
          <p:nvPr/>
        </p:nvSpPr>
        <p:spPr>
          <a:xfrm>
            <a:off x="376232" y="3678401"/>
            <a:ext cx="4162436" cy="6668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Bef>
                <a:spcPts val="750"/>
              </a:spcBef>
            </a:pPr>
            <a:r>
              <a:rPr lang="pl-PL" sz="10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</a:rPr>
              <a:t>Vadym Abrosimov | 43995</a:t>
            </a:r>
          </a:p>
          <a:p>
            <a:pPr>
              <a:spcBef>
                <a:spcPts val="750"/>
              </a:spcBef>
            </a:pPr>
            <a:r>
              <a:rPr lang="pl-PL" sz="10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</a:rPr>
              <a:t>Promotor: dr inż. Andrzej Burda</a:t>
            </a:r>
          </a:p>
          <a:p>
            <a:pPr>
              <a:spcBef>
                <a:spcPts val="750"/>
              </a:spcBef>
            </a:pPr>
            <a:r>
              <a:rPr lang="pl-PL" sz="10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</a:rPr>
              <a:t>Kierunek: Informatyka</a:t>
            </a:r>
            <a:endParaRPr lang="en-US" sz="1000" dirty="0">
              <a:solidFill>
                <a:srgbClr val="504C49"/>
              </a:solidFill>
              <a:latin typeface="Source Serif 4" pitchFamily="34" charset="0"/>
              <a:ea typeface="Source Serif 4" pitchFamily="34" charset="-12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B8C241D-3F15-118F-8C70-C19A460DF3A6}"/>
              </a:ext>
            </a:extLst>
          </p:cNvPr>
          <p:cNvSpPr txBox="1"/>
          <p:nvPr/>
        </p:nvSpPr>
        <p:spPr>
          <a:xfrm>
            <a:off x="406400" y="1968500"/>
            <a:ext cx="7874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l-PL" sz="1700" dirty="0">
                <a:solidFill>
                  <a:srgbClr val="333333"/>
                </a:solidFill>
                <a:latin typeface="Source Serif 4" panose="02040603050405020204" pitchFamily="18" charset="0"/>
                <a:ea typeface="Source Serif 4" panose="02040603050405020204" pitchFamily="18" charset="0"/>
              </a:rPr>
              <a:t>System detekcji dezinformacji z wyjaśnialną sztuczną inteligencją (XAI)</a:t>
            </a:r>
            <a:endParaRPr lang="en-US" sz="1700" dirty="0">
              <a:solidFill>
                <a:srgbClr val="333333"/>
              </a:solidFill>
              <a:latin typeface="Source Serif 4" panose="02040603050405020204" pitchFamily="18" charset="0"/>
              <a:ea typeface="Source Serif 4" panose="020406030504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4184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20291"/>
            <a:ext cx="797198" cy="241176"/>
          </a:xfrm>
          <a:prstGeom prst="roundRect">
            <a:avLst>
              <a:gd name="adj" fmla="val 6348"/>
            </a:avLst>
          </a:prstGeom>
          <a:noFill/>
          <a:ln w="4763">
            <a:solidFill>
              <a:srgbClr val="3E2513"/>
            </a:solidFill>
            <a:prstDash val="solid"/>
          </a:ln>
        </p:spPr>
        <p:txBody>
          <a:bodyPr/>
          <a:lstStyle/>
          <a:p>
            <a:endParaRPr lang="pl-PL" noProof="0" dirty="0"/>
          </a:p>
        </p:txBody>
      </p:sp>
      <p:sp>
        <p:nvSpPr>
          <p:cNvPr id="3" name="Text 1"/>
          <p:cNvSpPr/>
          <p:nvPr/>
        </p:nvSpPr>
        <p:spPr>
          <a:xfrm>
            <a:off x="577379" y="463302"/>
            <a:ext cx="634678" cy="1551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pl-PL" sz="800" noProof="0" dirty="0">
                <a:solidFill>
                  <a:srgbClr val="3E2513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MOTYWACJA</a:t>
            </a:r>
            <a:endParaRPr lang="pl-PL" sz="800" noProof="0" dirty="0"/>
          </a:p>
        </p:txBody>
      </p:sp>
      <p:sp>
        <p:nvSpPr>
          <p:cNvPr id="4" name="Text 2"/>
          <p:cNvSpPr/>
          <p:nvPr/>
        </p:nvSpPr>
        <p:spPr>
          <a:xfrm>
            <a:off x="496119" y="707380"/>
            <a:ext cx="7370713" cy="398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pl-PL" sz="2500" noProof="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Dlaczego istniejące rozwiązania nie wystarczą?</a:t>
            </a:r>
            <a:endParaRPr lang="pl-PL" sz="2500" noProof="0" dirty="0"/>
          </a:p>
        </p:txBody>
      </p:sp>
      <p:sp>
        <p:nvSpPr>
          <p:cNvPr id="5" name="Shape 3"/>
          <p:cNvSpPr/>
          <p:nvPr/>
        </p:nvSpPr>
        <p:spPr>
          <a:xfrm>
            <a:off x="496119" y="1407468"/>
            <a:ext cx="4343400" cy="985614"/>
          </a:xfrm>
          <a:prstGeom prst="roundRect">
            <a:avLst>
              <a:gd name="adj" fmla="val 6958"/>
            </a:avLst>
          </a:prstGeom>
          <a:solidFill>
            <a:srgbClr val="FFFFFF"/>
          </a:solidFill>
          <a:ln w="14288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pl-PL" noProof="0" dirty="0"/>
          </a:p>
        </p:txBody>
      </p:sp>
      <p:sp>
        <p:nvSpPr>
          <p:cNvPr id="6" name="Shape 4"/>
          <p:cNvSpPr/>
          <p:nvPr/>
        </p:nvSpPr>
        <p:spPr>
          <a:xfrm>
            <a:off x="481831" y="1407468"/>
            <a:ext cx="57150" cy="985614"/>
          </a:xfrm>
          <a:prstGeom prst="roundRect">
            <a:avLst>
              <a:gd name="adj" fmla="val 33488"/>
            </a:avLst>
          </a:prstGeom>
          <a:solidFill>
            <a:srgbClr val="3E2513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7" name="Text 5"/>
          <p:cNvSpPr/>
          <p:nvPr/>
        </p:nvSpPr>
        <p:spPr>
          <a:xfrm>
            <a:off x="680814" y="1549301"/>
            <a:ext cx="2310929" cy="199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pl-PL" sz="12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BERT i modele klasyfikacyjne</a:t>
            </a:r>
            <a:endParaRPr lang="pl-PL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680814" y="1863403"/>
            <a:ext cx="4016871" cy="387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pl-PL" sz="10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Zwracają wyłącznie </a:t>
            </a:r>
            <a:r>
              <a:rPr lang="pl-PL" sz="1000" b="1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wynik liczbowy</a:t>
            </a:r>
            <a:r>
              <a:rPr lang="pl-PL" sz="10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brak jakiegokolwiek wyjaśnienia podjętej decyzji.</a:t>
            </a:r>
            <a:endParaRPr lang="pl-PL" sz="1000" noProof="0" dirty="0"/>
          </a:p>
        </p:txBody>
      </p:sp>
      <p:sp>
        <p:nvSpPr>
          <p:cNvPr id="9" name="Shape 7"/>
          <p:cNvSpPr/>
          <p:nvPr/>
        </p:nvSpPr>
        <p:spPr>
          <a:xfrm>
            <a:off x="496119" y="2507903"/>
            <a:ext cx="4343400" cy="985614"/>
          </a:xfrm>
          <a:prstGeom prst="roundRect">
            <a:avLst>
              <a:gd name="adj" fmla="val 6958"/>
            </a:avLst>
          </a:prstGeom>
          <a:solidFill>
            <a:srgbClr val="FFFFFF"/>
          </a:solidFill>
          <a:ln w="14288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pl-PL" noProof="0" dirty="0"/>
          </a:p>
        </p:txBody>
      </p:sp>
      <p:sp>
        <p:nvSpPr>
          <p:cNvPr id="10" name="Shape 8"/>
          <p:cNvSpPr/>
          <p:nvPr/>
        </p:nvSpPr>
        <p:spPr>
          <a:xfrm>
            <a:off x="481831" y="2507903"/>
            <a:ext cx="57150" cy="985614"/>
          </a:xfrm>
          <a:prstGeom prst="roundRect">
            <a:avLst>
              <a:gd name="adj" fmla="val 33488"/>
            </a:avLst>
          </a:prstGeom>
          <a:solidFill>
            <a:srgbClr val="3E2513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11" name="Text 9"/>
          <p:cNvSpPr/>
          <p:nvPr/>
        </p:nvSpPr>
        <p:spPr>
          <a:xfrm>
            <a:off x="680814" y="2649736"/>
            <a:ext cx="2068041" cy="199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pl-PL" sz="12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GPT-4 i modele chmurowe</a:t>
            </a:r>
            <a:endParaRPr lang="pl-PL" sz="1250" noProof="0" dirty="0"/>
          </a:p>
        </p:txBody>
      </p:sp>
      <p:sp>
        <p:nvSpPr>
          <p:cNvPr id="12" name="Text 10"/>
          <p:cNvSpPr/>
          <p:nvPr/>
        </p:nvSpPr>
        <p:spPr>
          <a:xfrm>
            <a:off x="680814" y="2963838"/>
            <a:ext cx="4016871" cy="387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pl-PL" sz="10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Ograniczenia moderacji treści, </a:t>
            </a:r>
            <a:r>
              <a:rPr lang="pl-PL" sz="1000" b="1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wysokie koszty API</a:t>
            </a:r>
            <a:r>
              <a:rPr lang="pl-PL" sz="10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oraz ryzyko naruszenia prywatności danych.</a:t>
            </a:r>
            <a:endParaRPr lang="pl-PL" sz="1000" noProof="0" dirty="0"/>
          </a:p>
        </p:txBody>
      </p:sp>
      <p:sp>
        <p:nvSpPr>
          <p:cNvPr id="13" name="Shape 11"/>
          <p:cNvSpPr/>
          <p:nvPr/>
        </p:nvSpPr>
        <p:spPr>
          <a:xfrm>
            <a:off x="496119" y="3608338"/>
            <a:ext cx="4343400" cy="985614"/>
          </a:xfrm>
          <a:prstGeom prst="roundRect">
            <a:avLst>
              <a:gd name="adj" fmla="val 6958"/>
            </a:avLst>
          </a:prstGeom>
          <a:solidFill>
            <a:srgbClr val="FFFFFF"/>
          </a:solidFill>
          <a:ln w="14288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pl-PL" noProof="0" dirty="0"/>
          </a:p>
        </p:txBody>
      </p:sp>
      <p:sp>
        <p:nvSpPr>
          <p:cNvPr id="14" name="Shape 12"/>
          <p:cNvSpPr/>
          <p:nvPr/>
        </p:nvSpPr>
        <p:spPr>
          <a:xfrm>
            <a:off x="481831" y="3608338"/>
            <a:ext cx="57150" cy="985614"/>
          </a:xfrm>
          <a:prstGeom prst="roundRect">
            <a:avLst>
              <a:gd name="adj" fmla="val 33488"/>
            </a:avLst>
          </a:prstGeom>
          <a:solidFill>
            <a:srgbClr val="3E2513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15" name="Text 13"/>
          <p:cNvSpPr/>
          <p:nvPr/>
        </p:nvSpPr>
        <p:spPr>
          <a:xfrm>
            <a:off x="680814" y="3750171"/>
            <a:ext cx="1660252" cy="199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pl-PL" sz="12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Ręczny fact-checking</a:t>
            </a:r>
            <a:endParaRPr lang="pl-PL" sz="1250" noProof="0" dirty="0"/>
          </a:p>
        </p:txBody>
      </p:sp>
      <p:sp>
        <p:nvSpPr>
          <p:cNvPr id="16" name="Text 14"/>
          <p:cNvSpPr/>
          <p:nvPr/>
        </p:nvSpPr>
        <p:spPr>
          <a:xfrm>
            <a:off x="680814" y="4064273"/>
            <a:ext cx="4016871" cy="387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pl-PL" sz="10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Weryfikacja jednego artykułu zajmuje </a:t>
            </a:r>
            <a:r>
              <a:rPr lang="pl-PL" sz="1000" b="1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godziny pracy</a:t>
            </a:r>
            <a:r>
              <a:rPr lang="pl-PL" sz="10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eksperta — metoda całkowicie nieskalo­walna.</a:t>
            </a:r>
            <a:endParaRPr lang="pl-PL" sz="1000" noProof="0" dirty="0"/>
          </a:p>
        </p:txBody>
      </p:sp>
      <p:sp>
        <p:nvSpPr>
          <p:cNvPr id="17" name="Shape 15"/>
          <p:cNvSpPr/>
          <p:nvPr/>
        </p:nvSpPr>
        <p:spPr>
          <a:xfrm>
            <a:off x="5063654" y="1278285"/>
            <a:ext cx="3680743" cy="3444850"/>
          </a:xfrm>
          <a:prstGeom prst="roundRect">
            <a:avLst>
              <a:gd name="adj" fmla="val 556"/>
            </a:avLst>
          </a:prstGeom>
          <a:solidFill>
            <a:srgbClr val="1A3A52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18" name="Text 16"/>
          <p:cNvSpPr/>
          <p:nvPr/>
        </p:nvSpPr>
        <p:spPr>
          <a:xfrm>
            <a:off x="5191199" y="1393106"/>
            <a:ext cx="1615008" cy="199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pl-PL" sz="1250" noProof="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Luka technologiczna</a:t>
            </a:r>
            <a:endParaRPr lang="pl-PL" sz="1250" noProof="0" dirty="0"/>
          </a:p>
        </p:txBody>
      </p:sp>
      <p:sp>
        <p:nvSpPr>
          <p:cNvPr id="19" name="Text 17"/>
          <p:cNvSpPr/>
          <p:nvPr/>
        </p:nvSpPr>
        <p:spPr>
          <a:xfrm>
            <a:off x="5191199" y="1707207"/>
            <a:ext cx="3425651" cy="5817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pl-PL" sz="1000" noProof="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Żadne z dostępnych rozwiązań nie łączy jednocześnie: lokalnego wdrożenia, wyjaśnialności oraz adaptacji do nowych danych bez zewnętrznych zależności.</a:t>
            </a:r>
            <a:endParaRPr lang="pl-PL" sz="10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877937"/>
            <a:ext cx="994990" cy="266402"/>
          </a:xfrm>
          <a:prstGeom prst="roundRect">
            <a:avLst>
              <a:gd name="adj" fmla="val 6386"/>
            </a:avLst>
          </a:prstGeom>
          <a:solidFill>
            <a:srgbClr val="F3E3D8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3" name="Text 1"/>
          <p:cNvSpPr/>
          <p:nvPr/>
        </p:nvSpPr>
        <p:spPr>
          <a:xfrm>
            <a:off x="581174" y="920428"/>
            <a:ext cx="824880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pl-PL" sz="85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CEL PROJEKTU</a:t>
            </a:r>
            <a:endParaRPr lang="pl-PL" sz="850" noProof="0" dirty="0"/>
          </a:p>
        </p:txBody>
      </p:sp>
      <p:sp>
        <p:nvSpPr>
          <p:cNvPr id="4" name="Text 2"/>
          <p:cNvSpPr/>
          <p:nvPr/>
        </p:nvSpPr>
        <p:spPr>
          <a:xfrm>
            <a:off x="496119" y="1201043"/>
            <a:ext cx="723225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50"/>
              </a:lnSpc>
            </a:pPr>
            <a:r>
              <a:rPr lang="pl-PL" sz="2750" noProof="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Co realizuje System detekcji manipulacji?</a:t>
            </a:r>
            <a:endParaRPr lang="pl-PL" sz="2750" noProof="0" dirty="0"/>
          </a:p>
        </p:txBody>
      </p:sp>
      <p:sp>
        <p:nvSpPr>
          <p:cNvPr id="5" name="Shape 3"/>
          <p:cNvSpPr/>
          <p:nvPr/>
        </p:nvSpPr>
        <p:spPr>
          <a:xfrm>
            <a:off x="496119" y="1856631"/>
            <a:ext cx="2622724" cy="2408932"/>
          </a:xfrm>
          <a:prstGeom prst="roundRect">
            <a:avLst>
              <a:gd name="adj" fmla="val 883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pl-PL" noProof="0" dirty="0"/>
          </a:p>
        </p:txBody>
      </p:sp>
      <p:sp>
        <p:nvSpPr>
          <p:cNvPr id="6" name="Shape 4"/>
          <p:cNvSpPr/>
          <p:nvPr/>
        </p:nvSpPr>
        <p:spPr>
          <a:xfrm>
            <a:off x="515169" y="1875681"/>
            <a:ext cx="2584624" cy="425276"/>
          </a:xfrm>
          <a:prstGeom prst="rect">
            <a:avLst/>
          </a:prstGeom>
          <a:solidFill>
            <a:srgbClr val="F9F7F7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7" name="Text 5"/>
          <p:cNvSpPr/>
          <p:nvPr/>
        </p:nvSpPr>
        <p:spPr>
          <a:xfrm>
            <a:off x="1701180" y="1955378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l-PL" sz="16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1</a:t>
            </a:r>
            <a:endParaRPr lang="pl-PL" sz="1650" noProof="0" dirty="0"/>
          </a:p>
        </p:txBody>
      </p:sp>
      <p:sp>
        <p:nvSpPr>
          <p:cNvPr id="8" name="Text 6"/>
          <p:cNvSpPr/>
          <p:nvPr/>
        </p:nvSpPr>
        <p:spPr>
          <a:xfrm>
            <a:off x="656927" y="2442716"/>
            <a:ext cx="230110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pl-PL" sz="13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Detekcja technik manipulacji</a:t>
            </a:r>
            <a:endParaRPr lang="pl-PL" sz="1350" noProof="0" dirty="0"/>
          </a:p>
        </p:txBody>
      </p:sp>
      <p:sp>
        <p:nvSpPr>
          <p:cNvPr id="9" name="Text 7"/>
          <p:cNvSpPr/>
          <p:nvPr/>
        </p:nvSpPr>
        <p:spPr>
          <a:xfrm>
            <a:off x="656927" y="2970684"/>
            <a:ext cx="2301106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50"/>
              </a:lnSpc>
            </a:pPr>
            <a:r>
              <a:rPr lang="pl-PL" sz="11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Automatyczna identyfikacja </a:t>
            </a:r>
            <a:r>
              <a:rPr lang="pl-PL" sz="1100" b="1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11 technik dezinformacji</a:t>
            </a:r>
            <a:r>
              <a:rPr lang="pl-PL" sz="11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w polskojęzycznych tekstach — od manipulowania emocjami po wyolbrzymianie faktów</a:t>
            </a:r>
            <a:endParaRPr lang="pl-PL" sz="1100" noProof="0" dirty="0"/>
          </a:p>
        </p:txBody>
      </p:sp>
      <p:sp>
        <p:nvSpPr>
          <p:cNvPr id="10" name="Shape 8"/>
          <p:cNvSpPr/>
          <p:nvPr/>
        </p:nvSpPr>
        <p:spPr>
          <a:xfrm>
            <a:off x="3260601" y="1856631"/>
            <a:ext cx="2622724" cy="2408932"/>
          </a:xfrm>
          <a:prstGeom prst="roundRect">
            <a:avLst>
              <a:gd name="adj" fmla="val 883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pl-PL" noProof="0" dirty="0"/>
          </a:p>
        </p:txBody>
      </p:sp>
      <p:sp>
        <p:nvSpPr>
          <p:cNvPr id="11" name="Shape 9"/>
          <p:cNvSpPr/>
          <p:nvPr/>
        </p:nvSpPr>
        <p:spPr>
          <a:xfrm>
            <a:off x="3279651" y="1875681"/>
            <a:ext cx="2584624" cy="425276"/>
          </a:xfrm>
          <a:prstGeom prst="rect">
            <a:avLst/>
          </a:prstGeom>
          <a:solidFill>
            <a:srgbClr val="F9F7F7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12" name="Text 10"/>
          <p:cNvSpPr/>
          <p:nvPr/>
        </p:nvSpPr>
        <p:spPr>
          <a:xfrm>
            <a:off x="4465662" y="1955378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l-PL" sz="16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2</a:t>
            </a:r>
            <a:endParaRPr lang="pl-PL" sz="1650" noProof="0" dirty="0"/>
          </a:p>
        </p:txBody>
      </p:sp>
      <p:sp>
        <p:nvSpPr>
          <p:cNvPr id="13" name="Text 11"/>
          <p:cNvSpPr/>
          <p:nvPr/>
        </p:nvSpPr>
        <p:spPr>
          <a:xfrm>
            <a:off x="3421410" y="2442716"/>
            <a:ext cx="226218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pl-PL" sz="13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Wyjaśnialne uzasadnienia</a:t>
            </a:r>
            <a:endParaRPr lang="pl-PL" sz="1350" noProof="0" dirty="0"/>
          </a:p>
        </p:txBody>
      </p:sp>
      <p:sp>
        <p:nvSpPr>
          <p:cNvPr id="14" name="Text 12"/>
          <p:cNvSpPr/>
          <p:nvPr/>
        </p:nvSpPr>
        <p:spPr>
          <a:xfrm>
            <a:off x="3421410" y="2749228"/>
            <a:ext cx="230110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pl-PL" sz="11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System generuje nie tylko etykietę klasyfikacyjną, lecz także </a:t>
            </a:r>
            <a:r>
              <a:rPr lang="pl-PL" sz="1100" b="1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czytelne uzasadnienie</a:t>
            </a:r>
            <a:r>
              <a:rPr lang="pl-PL" sz="11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decyzji zrozumiałe dla analityka.</a:t>
            </a:r>
            <a:endParaRPr lang="pl-PL" sz="1100" noProof="0" dirty="0"/>
          </a:p>
        </p:txBody>
      </p:sp>
      <p:sp>
        <p:nvSpPr>
          <p:cNvPr id="15" name="Shape 13"/>
          <p:cNvSpPr/>
          <p:nvPr/>
        </p:nvSpPr>
        <p:spPr>
          <a:xfrm>
            <a:off x="6025083" y="1856631"/>
            <a:ext cx="2622724" cy="2408932"/>
          </a:xfrm>
          <a:prstGeom prst="roundRect">
            <a:avLst>
              <a:gd name="adj" fmla="val 883"/>
            </a:avLst>
          </a:prstGeom>
          <a:solidFill>
            <a:srgbClr val="FFFFFF"/>
          </a:solidFill>
          <a:ln w="1905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pl-PL" noProof="0" dirty="0"/>
          </a:p>
        </p:txBody>
      </p:sp>
      <p:sp>
        <p:nvSpPr>
          <p:cNvPr id="16" name="Shape 14"/>
          <p:cNvSpPr/>
          <p:nvPr/>
        </p:nvSpPr>
        <p:spPr>
          <a:xfrm>
            <a:off x="6044133" y="1875681"/>
            <a:ext cx="2584624" cy="425276"/>
          </a:xfrm>
          <a:prstGeom prst="rect">
            <a:avLst/>
          </a:prstGeom>
          <a:solidFill>
            <a:srgbClr val="F9F7F7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17" name="Text 15"/>
          <p:cNvSpPr/>
          <p:nvPr/>
        </p:nvSpPr>
        <p:spPr>
          <a:xfrm>
            <a:off x="7230145" y="1955378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pl-PL" sz="16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3</a:t>
            </a:r>
            <a:endParaRPr lang="pl-PL" sz="1650" noProof="0" dirty="0"/>
          </a:p>
        </p:txBody>
      </p:sp>
      <p:sp>
        <p:nvSpPr>
          <p:cNvPr id="18" name="Text 16"/>
          <p:cNvSpPr/>
          <p:nvPr/>
        </p:nvSpPr>
        <p:spPr>
          <a:xfrm>
            <a:off x="6185892" y="2442716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00"/>
              </a:lnSpc>
            </a:pPr>
            <a:r>
              <a:rPr lang="pl-PL" sz="13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Możliwość douczania</a:t>
            </a:r>
            <a:endParaRPr lang="pl-PL" sz="1350" noProof="0" dirty="0"/>
          </a:p>
        </p:txBody>
      </p:sp>
      <p:sp>
        <p:nvSpPr>
          <p:cNvPr id="19" name="Text 17"/>
          <p:cNvSpPr/>
          <p:nvPr/>
        </p:nvSpPr>
        <p:spPr>
          <a:xfrm>
            <a:off x="6185892" y="2749228"/>
            <a:ext cx="2301106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50"/>
              </a:lnSpc>
            </a:pPr>
            <a:r>
              <a:rPr lang="pl-PL" sz="11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System może być </a:t>
            </a:r>
            <a:r>
              <a:rPr lang="pl-PL" sz="1100" b="1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rozszerzany o nowe przykłady</a:t>
            </a:r>
            <a:r>
              <a:rPr lang="pl-PL" sz="110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i ponownie dostrajany, gdy pojawiają się nowe typy manipulacji.</a:t>
            </a:r>
            <a:endParaRPr lang="pl-PL" sz="11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36696"/>
            <a:ext cx="1084734" cy="275927"/>
          </a:xfrm>
          <a:prstGeom prst="roundRect">
            <a:avLst>
              <a:gd name="adj" fmla="val 6165"/>
            </a:avLst>
          </a:prstGeom>
          <a:noFill/>
          <a:ln w="4763">
            <a:solidFill>
              <a:srgbClr val="3E251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936" y="483949"/>
            <a:ext cx="905098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3E2513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ARCHITEKTURA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769327"/>
            <a:ext cx="379348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Architektura systemu</a:t>
            </a:r>
            <a:endParaRPr lang="en-US" sz="275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6932B1-4338-D53E-CA7C-AD57AC4D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8" y="1682088"/>
            <a:ext cx="7987482" cy="8379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844E114-4260-871F-561B-A18CEC2805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19" y="2945619"/>
            <a:ext cx="7987482" cy="138297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390040-A997-84FB-F4E2-6AB051980B4C}"/>
              </a:ext>
            </a:extLst>
          </p:cNvPr>
          <p:cNvSpPr txBox="1"/>
          <p:nvPr/>
        </p:nvSpPr>
        <p:spPr>
          <a:xfrm>
            <a:off x="3199092" y="2520078"/>
            <a:ext cx="2181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</a:rPr>
              <a:t>Tryb 1: analiza tekstu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2CC224-CDA7-05C3-AC98-88BB7615822F}"/>
              </a:ext>
            </a:extLst>
          </p:cNvPr>
          <p:cNvSpPr txBox="1"/>
          <p:nvPr/>
        </p:nvSpPr>
        <p:spPr>
          <a:xfrm>
            <a:off x="3199091" y="4328597"/>
            <a:ext cx="21810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</a:rPr>
              <a:t>Tryb 2: douczanie eksperckie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7608F7-29F4-F13F-198F-E84029BE48C6}"/>
              </a:ext>
            </a:extLst>
          </p:cNvPr>
          <p:cNvSpPr/>
          <p:nvPr/>
        </p:nvSpPr>
        <p:spPr>
          <a:xfrm>
            <a:off x="495300" y="231059"/>
            <a:ext cx="1600200" cy="330200"/>
          </a:xfrm>
          <a:prstGeom prst="rect">
            <a:avLst/>
          </a:prstGeom>
          <a:solidFill>
            <a:srgbClr val="F3E7D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900" noProof="0" dirty="0">
                <a:solidFill>
                  <a:srgbClr val="3A2A22"/>
                </a:solidFill>
                <a:latin typeface="Georgia" panose="02040502050405020303" pitchFamily="18" charset="0"/>
              </a:rPr>
              <a:t>PRZYKŁAD DZIAŁANIA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1A1DDF-722C-A2C1-DAF4-005E3FAF1D99}"/>
              </a:ext>
            </a:extLst>
          </p:cNvPr>
          <p:cNvSpPr txBox="1"/>
          <p:nvPr/>
        </p:nvSpPr>
        <p:spPr>
          <a:xfrm>
            <a:off x="495300" y="620816"/>
            <a:ext cx="8255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l-PL" sz="3100" b="1" noProof="0" dirty="0">
                <a:solidFill>
                  <a:srgbClr val="201B19"/>
                </a:solidFill>
                <a:latin typeface="Georgia" panose="02040502050405020303" pitchFamily="18" charset="0"/>
              </a:rPr>
              <a:t>Przykład działania systemu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46FC2C-9433-9DB7-AC63-D613AD5AAE92}"/>
              </a:ext>
            </a:extLst>
          </p:cNvPr>
          <p:cNvSpPr txBox="1"/>
          <p:nvPr/>
        </p:nvSpPr>
        <p:spPr>
          <a:xfrm>
            <a:off x="520700" y="1190203"/>
            <a:ext cx="812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pl-PL" sz="1400" noProof="0" dirty="0">
                <a:solidFill>
                  <a:srgbClr val="5B5652"/>
                </a:solidFill>
                <a:latin typeface="Georgia" panose="02040502050405020303" pitchFamily="18" charset="0"/>
              </a:rPr>
              <a:t>Input: fragment artykułu → Output: wykryte techniki manipulacji + uzasadnienie decyzji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A8A00D8-20F4-0841-D3BB-5A20790547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968" y="1601747"/>
            <a:ext cx="7078063" cy="13908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396B52-A9D7-1134-8F26-A6B0D5D0A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883" y="3096358"/>
            <a:ext cx="5634234" cy="1878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50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953691"/>
            <a:ext cx="1524149" cy="266402"/>
          </a:xfrm>
          <a:prstGeom prst="roundRect">
            <a:avLst>
              <a:gd name="adj" fmla="val 6386"/>
            </a:avLst>
          </a:prstGeom>
          <a:solidFill>
            <a:srgbClr val="F3E3D8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996181"/>
            <a:ext cx="1354038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STOS TECHNOLOGICZNY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276796"/>
            <a:ext cx="407231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Technologie i narzędzia</a:t>
            </a:r>
            <a:endParaRPr lang="en-US" sz="2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932384"/>
            <a:ext cx="354360" cy="35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7658" y="193238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Modele językowe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027658" y="2238896"/>
            <a:ext cx="3455715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Bielik-4.5B-Instruct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(produkcja) oraz </a:t>
            </a: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Qwen-2.5-7B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jako model nauczyciela w procesie destylacji wiedzy.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553" y="1932384"/>
            <a:ext cx="354360" cy="35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192092" y="193238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Fine-tuning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192092" y="2238896"/>
            <a:ext cx="3455789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Unsloth / QLoRA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(kwantyzacja 4-bit) trenowane na Google Colab T4 — bez potrzeby dedykowanej infrastruktury GPU.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3202856"/>
            <a:ext cx="354360" cy="3543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27658" y="3202856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Inferencja lokalna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027658" y="3509367"/>
            <a:ext cx="3455715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Ollama / llama.cpp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z formatem GGUF (8-bit) zapewnia szybką, prywatną inferencję bez połączenia z chmurą.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60553" y="3202856"/>
            <a:ext cx="354360" cy="3543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192092" y="3202856"/>
            <a:ext cx="183557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Warstwa aplikacyjna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5192092" y="3509367"/>
            <a:ext cx="3455789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FastAPI + WebSocket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po stronie backendu, </a:t>
            </a: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React + Vite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na frontendzie, </a:t>
            </a: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SQLite 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do śledzenia rekordów treningowych, środowisko </a:t>
            </a: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WSL2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6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1034732"/>
            <a:ext cx="921841" cy="214759"/>
          </a:xfrm>
          <a:prstGeom prst="roundRect">
            <a:avLst>
              <a:gd name="adj" fmla="val 6733"/>
            </a:avLst>
          </a:prstGeom>
          <a:solidFill>
            <a:srgbClr val="F3E3D8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3" name="Text 1"/>
          <p:cNvSpPr/>
          <p:nvPr/>
        </p:nvSpPr>
        <p:spPr>
          <a:xfrm>
            <a:off x="568375" y="1070823"/>
            <a:ext cx="777329" cy="1425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pl-PL" sz="750" noProof="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NIEZAWODNOŚĆ</a:t>
            </a:r>
            <a:endParaRPr lang="pl-PL" sz="750" noProof="0" dirty="0"/>
          </a:p>
        </p:txBody>
      </p:sp>
      <p:sp>
        <p:nvSpPr>
          <p:cNvPr id="4" name="Text 2"/>
          <p:cNvSpPr/>
          <p:nvPr/>
        </p:nvSpPr>
        <p:spPr>
          <a:xfrm>
            <a:off x="496119" y="1290419"/>
            <a:ext cx="7516734" cy="3765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950"/>
              </a:lnSpc>
            </a:pPr>
            <a:r>
              <a:rPr lang="pl-PL" sz="2350" noProof="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Mechanizmy zwiększające niezawodność systemu</a:t>
            </a:r>
            <a:endParaRPr lang="pl-PL" sz="2350" noProof="0" dirty="0"/>
          </a:p>
        </p:txBody>
      </p:sp>
      <p:sp>
        <p:nvSpPr>
          <p:cNvPr id="5" name="Text 3"/>
          <p:cNvSpPr/>
          <p:nvPr/>
        </p:nvSpPr>
        <p:spPr>
          <a:xfrm>
            <a:off x="496119" y="2069746"/>
            <a:ext cx="240953" cy="1506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pl-PL" sz="900" noProof="0" dirty="0">
                <a:solidFill>
                  <a:srgbClr val="504C49"/>
                </a:solidFill>
                <a:latin typeface="Platypi Light" pitchFamily="34" charset="0"/>
                <a:ea typeface="Platypi Light" pitchFamily="34" charset="-122"/>
                <a:cs typeface="Platypi Light" pitchFamily="34" charset="-120"/>
              </a:rPr>
              <a:t>01</a:t>
            </a:r>
            <a:endParaRPr lang="pl-PL" sz="900" noProof="0" dirty="0"/>
          </a:p>
        </p:txBody>
      </p:sp>
      <p:sp>
        <p:nvSpPr>
          <p:cNvPr id="6" name="Shape 4"/>
          <p:cNvSpPr/>
          <p:nvPr/>
        </p:nvSpPr>
        <p:spPr>
          <a:xfrm>
            <a:off x="496119" y="2260172"/>
            <a:ext cx="4351139" cy="14288"/>
          </a:xfrm>
          <a:prstGeom prst="rect">
            <a:avLst/>
          </a:prstGeom>
          <a:solidFill>
            <a:srgbClr val="3E2513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7" name="Text 5"/>
          <p:cNvSpPr/>
          <p:nvPr/>
        </p:nvSpPr>
        <p:spPr>
          <a:xfrm>
            <a:off x="496119" y="2386602"/>
            <a:ext cx="4351139" cy="150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450"/>
              </a:lnSpc>
            </a:pPr>
            <a:r>
              <a:rPr lang="pl-PL" sz="11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Walidacja struktury odpowiedzi</a:t>
            </a:r>
            <a:endParaRPr lang="pl-PL" sz="1150" noProof="0" dirty="0"/>
          </a:p>
        </p:txBody>
      </p:sp>
      <p:sp>
        <p:nvSpPr>
          <p:cNvPr id="9" name="Text 7"/>
          <p:cNvSpPr/>
          <p:nvPr/>
        </p:nvSpPr>
        <p:spPr>
          <a:xfrm>
            <a:off x="496119" y="2823822"/>
            <a:ext cx="240953" cy="1506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pl-PL" sz="900" noProof="0" dirty="0">
                <a:solidFill>
                  <a:srgbClr val="504C49"/>
                </a:solidFill>
                <a:latin typeface="Platypi Light" pitchFamily="34" charset="0"/>
                <a:ea typeface="Platypi Light" pitchFamily="34" charset="-122"/>
                <a:cs typeface="Platypi Light" pitchFamily="34" charset="-120"/>
              </a:rPr>
              <a:t>02</a:t>
            </a:r>
            <a:endParaRPr lang="pl-PL" sz="900" noProof="0" dirty="0"/>
          </a:p>
        </p:txBody>
      </p:sp>
      <p:sp>
        <p:nvSpPr>
          <p:cNvPr id="10" name="Shape 8"/>
          <p:cNvSpPr/>
          <p:nvPr/>
        </p:nvSpPr>
        <p:spPr>
          <a:xfrm>
            <a:off x="496119" y="3014247"/>
            <a:ext cx="4351139" cy="14288"/>
          </a:xfrm>
          <a:prstGeom prst="rect">
            <a:avLst/>
          </a:prstGeom>
          <a:solidFill>
            <a:srgbClr val="3E2513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11" name="Text 9"/>
          <p:cNvSpPr/>
          <p:nvPr/>
        </p:nvSpPr>
        <p:spPr>
          <a:xfrm>
            <a:off x="496119" y="3140677"/>
            <a:ext cx="4351139" cy="150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450"/>
              </a:lnSpc>
            </a:pPr>
            <a:r>
              <a:rPr lang="pl-PL" sz="11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Automatyczna naprawa formatu</a:t>
            </a:r>
            <a:endParaRPr lang="pl-PL" sz="1150" noProof="0" dirty="0"/>
          </a:p>
        </p:txBody>
      </p:sp>
      <p:sp>
        <p:nvSpPr>
          <p:cNvPr id="13" name="Text 11"/>
          <p:cNvSpPr/>
          <p:nvPr/>
        </p:nvSpPr>
        <p:spPr>
          <a:xfrm>
            <a:off x="496119" y="3580277"/>
            <a:ext cx="240953" cy="1506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pl-PL" sz="900" noProof="0" dirty="0">
                <a:solidFill>
                  <a:srgbClr val="504C49"/>
                </a:solidFill>
                <a:latin typeface="Platypi Light" pitchFamily="34" charset="0"/>
                <a:ea typeface="Platypi Light" pitchFamily="34" charset="-122"/>
                <a:cs typeface="Platypi Light" pitchFamily="34" charset="-120"/>
              </a:rPr>
              <a:t>03</a:t>
            </a:r>
            <a:endParaRPr lang="pl-PL" sz="900" noProof="0" dirty="0"/>
          </a:p>
        </p:txBody>
      </p:sp>
      <p:sp>
        <p:nvSpPr>
          <p:cNvPr id="14" name="Shape 12"/>
          <p:cNvSpPr/>
          <p:nvPr/>
        </p:nvSpPr>
        <p:spPr>
          <a:xfrm>
            <a:off x="496119" y="3770703"/>
            <a:ext cx="4351139" cy="14288"/>
          </a:xfrm>
          <a:prstGeom prst="rect">
            <a:avLst/>
          </a:prstGeom>
          <a:solidFill>
            <a:srgbClr val="3E2513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15" name="Text 13"/>
          <p:cNvSpPr/>
          <p:nvPr/>
        </p:nvSpPr>
        <p:spPr>
          <a:xfrm>
            <a:off x="496119" y="3859479"/>
            <a:ext cx="1506215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pl-PL" sz="1150" noProof="0" dirty="0">
                <a:solidFill>
                  <a:srgbClr val="504C49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Normalizacja tagów</a:t>
            </a:r>
            <a:endParaRPr lang="pl-PL" sz="1150" noProof="0" dirty="0"/>
          </a:p>
        </p:txBody>
      </p:sp>
      <p:sp>
        <p:nvSpPr>
          <p:cNvPr id="17" name="Shape 15"/>
          <p:cNvSpPr/>
          <p:nvPr/>
        </p:nvSpPr>
        <p:spPr>
          <a:xfrm>
            <a:off x="5059189" y="2001509"/>
            <a:ext cx="3680147" cy="2372751"/>
          </a:xfrm>
          <a:prstGeom prst="roundRect">
            <a:avLst>
              <a:gd name="adj" fmla="val 517"/>
            </a:avLst>
          </a:prstGeom>
          <a:solidFill>
            <a:srgbClr val="1A3A52"/>
          </a:solidFill>
          <a:ln/>
        </p:spPr>
        <p:txBody>
          <a:bodyPr/>
          <a:lstStyle/>
          <a:p>
            <a:endParaRPr lang="pl-PL" noProof="0" dirty="0"/>
          </a:p>
        </p:txBody>
      </p:sp>
      <p:sp>
        <p:nvSpPr>
          <p:cNvPr id="18" name="Text 16"/>
          <p:cNvSpPr/>
          <p:nvPr/>
        </p:nvSpPr>
        <p:spPr>
          <a:xfrm>
            <a:off x="5179665" y="2103903"/>
            <a:ext cx="2328714" cy="18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pl-PL" sz="1150" noProof="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Wskaźnik poprawnej struktury</a:t>
            </a:r>
            <a:endParaRPr lang="pl-PL" sz="1150" noProof="0" dirty="0"/>
          </a:p>
        </p:txBody>
      </p:sp>
      <p:sp>
        <p:nvSpPr>
          <p:cNvPr id="19" name="Text 17"/>
          <p:cNvSpPr/>
          <p:nvPr/>
        </p:nvSpPr>
        <p:spPr>
          <a:xfrm>
            <a:off x="5179665" y="2394564"/>
            <a:ext cx="3439195" cy="7531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900"/>
              </a:lnSpc>
              <a:buNone/>
            </a:pPr>
            <a:r>
              <a:rPr lang="pl-PL" sz="4700" noProof="0" dirty="0">
                <a:solidFill>
                  <a:srgbClr val="FFFFFF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96%+</a:t>
            </a:r>
            <a:endParaRPr lang="pl-PL" sz="4700" noProof="0" dirty="0"/>
          </a:p>
        </p:txBody>
      </p:sp>
      <p:sp>
        <p:nvSpPr>
          <p:cNvPr id="20" name="Text 18"/>
          <p:cNvSpPr/>
          <p:nvPr/>
        </p:nvSpPr>
        <p:spPr>
          <a:xfrm>
            <a:off x="5179665" y="3250103"/>
            <a:ext cx="3439195" cy="534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pl-PL" sz="1100" b="1" noProof="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PSR (Parse Success Rate)</a:t>
            </a:r>
            <a:r>
              <a:rPr lang="pl-PL" sz="1100" noProof="0" dirty="0">
                <a:solidFill>
                  <a:srgbClr val="FFFF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skuteczność odczytu ustrukturyzowanych odpowiedzi modelu po zastosowaniu pełnego potoku naprawczego.</a:t>
            </a:r>
            <a:endParaRPr lang="pl-PL" sz="110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42168"/>
            <a:ext cx="1278657" cy="275927"/>
          </a:xfrm>
          <a:prstGeom prst="roundRect">
            <a:avLst>
              <a:gd name="adj" fmla="val 6165"/>
            </a:avLst>
          </a:prstGeom>
          <a:noFill/>
          <a:ln w="4763">
            <a:solidFill>
              <a:srgbClr val="3E251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85936" y="489421"/>
            <a:ext cx="1099021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3E2513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WYNIKI EWALUACJI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774799"/>
            <a:ext cx="6180386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Wyniki eksperymentalne (N = 1 521)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496119" y="1589856"/>
            <a:ext cx="4752677" cy="1876425"/>
          </a:xfrm>
          <a:prstGeom prst="roundRect">
            <a:avLst>
              <a:gd name="adj" fmla="val 1133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2863" y="1684437"/>
            <a:ext cx="132672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Metryka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57871" y="1684437"/>
            <a:ext cx="755154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Brak adaptera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01305" y="1684437"/>
            <a:ext cx="75515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Prototyp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44739" y="1684437"/>
            <a:ext cx="75753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XAI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2863" y="2322463"/>
            <a:ext cx="132672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PSR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57871" y="2322463"/>
            <a:ext cx="75515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20%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01305" y="2322463"/>
            <a:ext cx="75515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99,9%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44739" y="2322463"/>
            <a:ext cx="75753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96,3%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2863" y="2733675"/>
            <a:ext cx="132672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F1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57871" y="2733675"/>
            <a:ext cx="75515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0,10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01305" y="2733675"/>
            <a:ext cx="75515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0,49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44739" y="2733675"/>
            <a:ext cx="75753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0,28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2863" y="3144887"/>
            <a:ext cx="132672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Exact Match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57871" y="3144887"/>
            <a:ext cx="75515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38%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301305" y="3144887"/>
            <a:ext cx="755154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73%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344739" y="3144887"/>
            <a:ext cx="75753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73%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599435" y="1589856"/>
            <a:ext cx="3053135" cy="1282824"/>
          </a:xfrm>
          <a:prstGeom prst="roundRect">
            <a:avLst>
              <a:gd name="adj" fmla="val 1658"/>
            </a:avLst>
          </a:prstGeom>
          <a:solidFill>
            <a:srgbClr val="B6FCB8"/>
          </a:solidFill>
          <a:ln/>
        </p:spPr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194" y="1804913"/>
            <a:ext cx="177180" cy="141759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060132" y="1767036"/>
            <a:ext cx="2450678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50"/>
              </a:lnSpc>
            </a:pPr>
            <a:r>
              <a:rPr lang="en-US" sz="1100" b="1" dirty="0">
                <a:solidFill>
                  <a:srgbClr val="00000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Prototyp F1 = 0,49</a:t>
            </a:r>
            <a:r>
              <a:rPr lang="en-US" sz="1100" dirty="0">
                <a:solidFill>
                  <a:srgbClr val="00000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</a:t>
            </a:r>
            <a:r>
              <a:rPr lang="pl-PL" sz="1100" dirty="0">
                <a:solidFill>
                  <a:srgbClr val="00000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konkurencyjne wobec raportowanych w literaturze, mimo zastosowania lokalnego modelu 4,5B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599435" y="3032150"/>
            <a:ext cx="3053135" cy="1509638"/>
          </a:xfrm>
          <a:prstGeom prst="roundRect">
            <a:avLst>
              <a:gd name="adj" fmla="val 1409"/>
            </a:avLst>
          </a:prstGeom>
          <a:solidFill>
            <a:srgbClr val="B6D6FC"/>
          </a:solidFill>
          <a:ln/>
        </p:spPr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1194" y="3247206"/>
            <a:ext cx="177180" cy="14175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060132" y="3209330"/>
            <a:ext cx="2450678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Podatek od wyjaśnialności:</a:t>
            </a:r>
            <a:r>
              <a:rPr lang="en-US" sz="1100" dirty="0">
                <a:solidFill>
                  <a:srgbClr val="00000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dodanie uzasadnień XAI obniża F1 do 0,28 — koszt interpretowalności przy zachowaniu dokładności strukturalnej na poziomie 73%.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8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777329"/>
            <a:ext cx="1114425" cy="266402"/>
          </a:xfrm>
          <a:prstGeom prst="roundRect">
            <a:avLst>
              <a:gd name="adj" fmla="val 6386"/>
            </a:avLst>
          </a:prstGeom>
          <a:solidFill>
            <a:srgbClr val="F3E3D8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819820"/>
            <a:ext cx="944314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85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PODSUMOWANIE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100435"/>
            <a:ext cx="527789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50"/>
              </a:lnSpc>
              <a:buNone/>
            </a:pPr>
            <a:r>
              <a:rPr lang="en-US" sz="27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Osiągnięcia i kierunki rozwoju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496119" y="189778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Zrealizowane cele</a:t>
            </a:r>
            <a:endParaRPr lang="en-US" sz="13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250" y="2285777"/>
            <a:ext cx="212601" cy="21260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6816" y="2278707"/>
            <a:ext cx="344224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Kompletny system: inferencja, douczanie, ewaluacja i </a:t>
            </a: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hot-swap modelu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w jednej platformie.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250" y="3022922"/>
            <a:ext cx="212601" cy="21260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6816" y="3015853"/>
            <a:ext cx="344224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Działanie w pełni </a:t>
            </a: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lokalne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bez zależności od API chmurowych, z gwarancją prywatności danych.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9250" y="3760068"/>
            <a:ext cx="212601" cy="212601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6816" y="3752999"/>
            <a:ext cx="344224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Adaptacja do nowych danych w </a:t>
            </a: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ciągu minut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dzięki QLoRA i zautomatyzowanej pętli MLOps.</a:t>
            </a:r>
            <a:endParaRPr lang="en-US" sz="1100" dirty="0"/>
          </a:p>
        </p:txBody>
      </p:sp>
      <p:sp>
        <p:nvSpPr>
          <p:cNvPr id="12" name="Text 7"/>
          <p:cNvSpPr/>
          <p:nvPr/>
        </p:nvSpPr>
        <p:spPr>
          <a:xfrm>
            <a:off x="4749701" y="189778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201B18"/>
                </a:solidFill>
                <a:latin typeface="Platypi Medium" pitchFamily="34" charset="0"/>
                <a:ea typeface="Platypi Medium" pitchFamily="34" charset="-122"/>
                <a:cs typeface="Platypi Medium" pitchFamily="34" charset="-120"/>
              </a:rPr>
              <a:t>Planowany rozwój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2832" y="2285777"/>
            <a:ext cx="212601" cy="21260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210398" y="2278707"/>
            <a:ext cx="344224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GPU powyżej 24 GB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trening modeli 13B+ dla wyższego F1 bez kompromisu wyjaśnialności.</a:t>
            </a:r>
            <a:endParaRPr lang="en-US" sz="11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2832" y="3022922"/>
            <a:ext cx="212601" cy="212601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210398" y="3015853"/>
            <a:ext cx="344224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LLM-as-a-Judge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automatyczna ocena jakości uzasadnień bez udziału człowieka.</a:t>
            </a:r>
            <a:endParaRPr lang="en-US" sz="11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2832" y="3760068"/>
            <a:ext cx="212601" cy="21260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210398" y="3752999"/>
            <a:ext cx="3442246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b="1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RBAC i bias mitigation</a:t>
            </a:r>
            <a:r>
              <a:rPr lang="en-US" sz="1100" dirty="0">
                <a:solidFill>
                  <a:srgbClr val="504C49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 — kontrola dostępu oraz redukcja stronniczości klasyfikatora.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500</Words>
  <Application>Microsoft Office PowerPoint</Application>
  <PresentationFormat>On-screen Show (16:9)</PresentationFormat>
  <Paragraphs>91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Source Serif 4</vt:lpstr>
      <vt:lpstr>Platypi Medium</vt:lpstr>
      <vt:lpstr>Montserrat</vt:lpstr>
      <vt:lpstr>Montserrat Medium</vt:lpstr>
      <vt:lpstr>Georgia</vt:lpstr>
      <vt:lpstr>Arial</vt:lpstr>
      <vt:lpstr>Platypi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Vadym A</cp:lastModifiedBy>
  <cp:revision>9</cp:revision>
  <dcterms:created xsi:type="dcterms:W3CDTF">2026-05-10T14:35:22Z</dcterms:created>
  <dcterms:modified xsi:type="dcterms:W3CDTF">2026-05-23T14:56:31Z</dcterms:modified>
</cp:coreProperties>
</file>